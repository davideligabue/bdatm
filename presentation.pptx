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5" r:id="rId1"/>
    <p:sldMasterId id="2147483676" r:id="rId2"/>
  </p:sldMasterIdLst>
  <p:notesMasterIdLst>
    <p:notesMasterId r:id="rId16"/>
  </p:notesMasterIdLst>
  <p:sldIdLst>
    <p:sldId id="309" r:id="rId3"/>
    <p:sldId id="310" r:id="rId4"/>
    <p:sldId id="311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1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085C876-4278-4CB9-BA3A-DD733E62D304}">
  <a:tblStyle styleId="{5085C876-4278-4CB9-BA3A-DD733E62D3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2470" autoAdjust="0"/>
  </p:normalViewPr>
  <p:slideViewPr>
    <p:cSldViewPr snapToGrid="0">
      <p:cViewPr varScale="1">
        <p:scale>
          <a:sx n="91" d="100"/>
          <a:sy n="91" d="100"/>
        </p:scale>
        <p:origin x="21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</c:v>
                </c:pt>
              </c:strCache>
            </c:strRef>
          </c:tx>
          <c:spPr>
            <a:ln w="28575">
              <a:solidFill>
                <a:srgbClr val="003BA3"/>
              </a:solidFill>
            </a:ln>
          </c:spPr>
          <c:marker>
            <c:symbol val="circle"/>
            <c:size val="7"/>
            <c:spPr>
              <a:solidFill>
                <a:srgbClr val="003BA3"/>
              </a:solidFill>
              <a:ln>
                <a:solidFill>
                  <a:srgbClr val="003BA3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t=0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0.77900000000000003</c:v>
                </c:pt>
                <c:pt idx="1">
                  <c:v>0.82899999999999996</c:v>
                </c:pt>
                <c:pt idx="2">
                  <c:v>0.89400000000000002</c:v>
                </c:pt>
                <c:pt idx="3">
                  <c:v>0.93100000000000005</c:v>
                </c:pt>
                <c:pt idx="4">
                  <c:v>0.95499999999999996</c:v>
                </c:pt>
                <c:pt idx="5">
                  <c:v>0.97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0A-4355-987F-26B510A698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text</c:v>
                </c:pt>
              </c:strCache>
            </c:strRef>
          </c:tx>
          <c:spPr>
            <a:ln w="28575">
              <a:solidFill>
                <a:srgbClr val="4A8CFF"/>
              </a:solidFill>
            </a:ln>
          </c:spPr>
          <c:marker>
            <c:symbol val="circle"/>
            <c:size val="7"/>
            <c:spPr>
              <a:solidFill>
                <a:srgbClr val="4A8CFF"/>
              </a:solidFill>
              <a:ln>
                <a:solidFill>
                  <a:srgbClr val="4A8CF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t=0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5+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0.70099999999999996</c:v>
                </c:pt>
                <c:pt idx="1">
                  <c:v>0.76</c:v>
                </c:pt>
                <c:pt idx="2">
                  <c:v>0.85499999999999998</c:v>
                </c:pt>
                <c:pt idx="3">
                  <c:v>0.90300000000000002</c:v>
                </c:pt>
                <c:pt idx="4">
                  <c:v>0.91900000000000004</c:v>
                </c:pt>
                <c:pt idx="5">
                  <c:v>0.95299999999999996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0A-4355-987F-26B510A698E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picto</c:v>
                </c:pt>
              </c:strCache>
            </c:strRef>
          </c:tx>
          <c:spPr>
            <a:ln w="28575">
              <a:solidFill>
                <a:srgbClr val="A9C6FF"/>
              </a:solidFill>
            </a:ln>
          </c:spPr>
          <c:marker>
            <c:symbol val="circle"/>
            <c:size val="7"/>
            <c:spPr>
              <a:solidFill>
                <a:srgbClr val="A9C6FF"/>
              </a:solidFill>
              <a:ln>
                <a:solidFill>
                  <a:srgbClr val="A9C6F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t=0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5+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0.68700000000000006</c:v>
                </c:pt>
                <c:pt idx="1">
                  <c:v>0.754</c:v>
                </c:pt>
                <c:pt idx="2">
                  <c:v>0.79800000000000004</c:v>
                </c:pt>
                <c:pt idx="3">
                  <c:v>0.86099999999999999</c:v>
                </c:pt>
                <c:pt idx="4">
                  <c:v>0.88600000000000001</c:v>
                </c:pt>
                <c:pt idx="5">
                  <c:v>0.89600000000000002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00A-4355-987F-26B510A698E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n-gram</c:v>
                </c:pt>
              </c:strCache>
            </c:strRef>
          </c:tx>
          <c:spPr>
            <a:ln w="28575">
              <a:solidFill>
                <a:srgbClr val="8C8C8C"/>
              </a:solidFill>
              <a:prstDash val="dash"/>
            </a:ln>
          </c:spPr>
          <c:marker>
            <c:symbol val="circle"/>
            <c:size val="7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t=0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5+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0.65</c:v>
                </c:pt>
                <c:pt idx="1">
                  <c:v>0.75900000000000001</c:v>
                </c:pt>
                <c:pt idx="2">
                  <c:v>0.81499999999999995</c:v>
                </c:pt>
                <c:pt idx="3">
                  <c:v>0.86099999999999999</c:v>
                </c:pt>
                <c:pt idx="4">
                  <c:v>0.88500000000000001</c:v>
                </c:pt>
                <c:pt idx="5">
                  <c:v>0.91500000000000004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00A-4355-987F-26B510A698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/>
            </a:pPr>
            <a:endParaRPr lang="it-IT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"/>
          <c:min val="0.6"/>
        </c:scaling>
        <c:delete val="0"/>
        <c:axPos val="l"/>
        <c:majorGridlines>
          <c:spPr>
            <a:ln>
              <a:solidFill>
                <a:srgbClr val="E5E5E5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  <a:endParaRPr lang="it-IT"/>
          </a:p>
        </c:txPr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/>
          </a:pPr>
          <a:endParaRPr lang="it-IT"/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EFEFEF"/>
            </a:solidFill>
            <a:ln>
              <a:solidFill>
                <a:srgbClr val="BFBFBF"/>
              </a:solidFill>
            </a:ln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>
                    <a:solidFill>
                      <a:srgbClr val="000000"/>
                    </a:solidFill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all@1</c:v>
                </c:pt>
                <c:pt idx="1">
                  <c:v>all@5</c:v>
                </c:pt>
                <c:pt idx="2">
                  <c:v>all@10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1.2999999999999999E-2</c:v>
                </c:pt>
                <c:pt idx="1">
                  <c:v>0.05</c:v>
                </c:pt>
                <c:pt idx="2">
                  <c:v>7.6999999999999999E-2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BFBFB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AAF-4676-9DEF-D268AC0236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n-gram</c:v>
                </c:pt>
              </c:strCache>
            </c:strRef>
          </c:tx>
          <c:spPr>
            <a:solidFill>
              <a:srgbClr val="8C8C8C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>
                    <a:solidFill>
                      <a:srgbClr val="000000"/>
                    </a:solidFill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all@1</c:v>
                </c:pt>
                <c:pt idx="1">
                  <c:v>all@5</c:v>
                </c:pt>
                <c:pt idx="2">
                  <c:v>all@10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4.3999999999999997E-2</c:v>
                </c:pt>
                <c:pt idx="1">
                  <c:v>0.108</c:v>
                </c:pt>
                <c:pt idx="2">
                  <c:v>0.14899999999999999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AAF-4676-9DEF-D268AC0236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picto 2B</c:v>
                </c:pt>
              </c:strCache>
            </c:strRef>
          </c:tx>
          <c:spPr>
            <a:solidFill>
              <a:srgbClr val="003BA3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>
                    <a:solidFill>
                      <a:srgbClr val="000000"/>
                    </a:solidFill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all@1</c:v>
                </c:pt>
                <c:pt idx="1">
                  <c:v>all@5</c:v>
                </c:pt>
                <c:pt idx="2">
                  <c:v>all@10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4.2000000000000003E-2</c:v>
                </c:pt>
                <c:pt idx="1">
                  <c:v>0.13200000000000001</c:v>
                </c:pt>
                <c:pt idx="2">
                  <c:v>0.20200000000000001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6AAF-4676-9DEF-D268AC0236F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/>
            </a:pPr>
            <a:endParaRPr lang="it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2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/>
          </a:pPr>
          <a:endParaRPr lang="it-IT"/>
        </a:p>
      </c:txPr>
    </c:legend>
    <c:plotVisOnly val="1"/>
    <c:dispBlanksAs val="gap"/>
    <c:showDLblsOverMax val="1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trie: training data + share of test</c:v>
                </c:pt>
              </c:strCache>
            </c:strRef>
          </c:tx>
          <c:spPr>
            <a:ln w="28575">
              <a:solidFill>
                <a:srgbClr val="003BA3"/>
              </a:solidFill>
            </a:ln>
          </c:spPr>
          <c:marker>
            <c:symbol val="circle"/>
            <c:size val="7"/>
            <c:spPr>
              <a:solidFill>
                <a:srgbClr val="003BA3"/>
              </a:solidFill>
              <a:ln>
                <a:solidFill>
                  <a:srgbClr val="003BA3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0%</c:v>
                </c:pt>
                <c:pt idx="1">
                  <c:v>10%</c:v>
                </c:pt>
                <c:pt idx="2">
                  <c:v>25%</c:v>
                </c:pt>
                <c:pt idx="3">
                  <c:v>50%</c:v>
                </c:pt>
                <c:pt idx="4">
                  <c:v>75%</c:v>
                </c:pt>
                <c:pt idx="5">
                  <c:v>100%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0.40699999999999997</c:v>
                </c:pt>
                <c:pt idx="1">
                  <c:v>0.436</c:v>
                </c:pt>
                <c:pt idx="2">
                  <c:v>0.48</c:v>
                </c:pt>
                <c:pt idx="3">
                  <c:v>0.55500000000000005</c:v>
                </c:pt>
                <c:pt idx="4">
                  <c:v>0.63200000000000001</c:v>
                </c:pt>
                <c:pt idx="5">
                  <c:v>0.70899999999999996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8EA-4642-9257-685E038D3B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constraint</c:v>
                </c:pt>
              </c:strCache>
            </c:strRef>
          </c:tx>
          <c:spPr>
            <a:ln w="28575">
              <a:solidFill>
                <a:srgbClr val="8C8C8C"/>
              </a:solidFill>
              <a:prstDash val="dash"/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0%</c:v>
                </c:pt>
                <c:pt idx="1">
                  <c:v>10%</c:v>
                </c:pt>
                <c:pt idx="2">
                  <c:v>25%</c:v>
                </c:pt>
                <c:pt idx="3">
                  <c:v>50%</c:v>
                </c:pt>
                <c:pt idx="4">
                  <c:v>75%</c:v>
                </c:pt>
                <c:pt idx="5">
                  <c:v>100%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0.39200000000000002</c:v>
                </c:pt>
                <c:pt idx="1">
                  <c:v>0.39200000000000002</c:v>
                </c:pt>
                <c:pt idx="2">
                  <c:v>0.39200000000000002</c:v>
                </c:pt>
                <c:pt idx="3">
                  <c:v>0.39200000000000002</c:v>
                </c:pt>
                <c:pt idx="4">
                  <c:v>0.39200000000000002</c:v>
                </c:pt>
                <c:pt idx="5">
                  <c:v>0.39200000000000002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8EA-4642-9257-685E038D3B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/>
            </a:pPr>
            <a:endParaRPr lang="it-IT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0.8"/>
          <c:min val="0.3"/>
        </c:scaling>
        <c:delete val="0"/>
        <c:axPos val="l"/>
        <c:majorGridlines>
          <c:spPr>
            <a:ln>
              <a:solidFill>
                <a:srgbClr val="E5E5E5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  <a:endParaRPr lang="it-IT"/>
          </a:p>
        </c:txPr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/>
          </a:pPr>
          <a:endParaRPr lang="it-IT"/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</c:v>
                </c:pt>
              </c:strCache>
            </c:strRef>
          </c:tx>
          <c:spPr>
            <a:ln w="28575">
              <a:solidFill>
                <a:srgbClr val="003BA3"/>
              </a:solidFill>
            </a:ln>
          </c:spPr>
          <c:marker>
            <c:symbol val="circle"/>
            <c:size val="7"/>
            <c:spPr>
              <a:solidFill>
                <a:srgbClr val="003BA3"/>
              </a:solidFill>
              <a:ln>
                <a:solidFill>
                  <a:srgbClr val="003BA3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850"/>
                  </a:pPr>
                  <a:endParaRPr lang="it-IT"/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228-4077-8656-5C039EAD2D7A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850"/>
                  </a:pPr>
                  <a:endParaRPr lang="it-IT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228-4077-8656-5C039EAD2D7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pictograms so far</c:v>
                </c:pt>
                <c:pt idx="1">
                  <c:v>whole sentence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0.86699999999999999</c:v>
                </c:pt>
                <c:pt idx="1">
                  <c:v>0.96599999999999997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228-4077-8656-5C039EAD2D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text</c:v>
                </c:pt>
              </c:strCache>
            </c:strRef>
          </c:tx>
          <c:spPr>
            <a:ln w="28575">
              <a:solidFill>
                <a:srgbClr val="4A8CFF"/>
              </a:solidFill>
            </a:ln>
          </c:spPr>
          <c:marker>
            <c:symbol val="circle"/>
            <c:size val="7"/>
            <c:spPr>
              <a:solidFill>
                <a:srgbClr val="4A8CFF"/>
              </a:solidFill>
              <a:ln>
                <a:solidFill>
                  <a:srgbClr val="4A8CFF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850"/>
                  </a:pPr>
                  <a:endParaRPr lang="it-IT"/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228-4077-8656-5C039EAD2D7A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850"/>
                  </a:pPr>
                  <a:endParaRPr lang="it-IT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228-4077-8656-5C039EAD2D7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pictograms so far</c:v>
                </c:pt>
                <c:pt idx="1">
                  <c:v>whole sentence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0.81499999999999995</c:v>
                </c:pt>
                <c:pt idx="1">
                  <c:v>0.93899999999999995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3228-4077-8656-5C039EAD2D7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picto</c:v>
                </c:pt>
              </c:strCache>
            </c:strRef>
          </c:tx>
          <c:spPr>
            <a:ln w="28575">
              <a:solidFill>
                <a:srgbClr val="A9C6FF"/>
              </a:solidFill>
            </a:ln>
          </c:spPr>
          <c:marker>
            <c:symbol val="circle"/>
            <c:size val="7"/>
            <c:spPr>
              <a:solidFill>
                <a:srgbClr val="A9C6FF"/>
              </a:solidFill>
              <a:ln>
                <a:solidFill>
                  <a:srgbClr val="A9C6FF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850"/>
                  </a:pPr>
                  <a:endParaRPr lang="it-IT"/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228-4077-8656-5C039EAD2D7A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850"/>
                  </a:pPr>
                  <a:endParaRPr lang="it-IT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228-4077-8656-5C039EAD2D7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pictograms so far</c:v>
                </c:pt>
                <c:pt idx="1">
                  <c:v>whole sentence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0.78500000000000003</c:v>
                </c:pt>
                <c:pt idx="1">
                  <c:v>0.91900000000000004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3228-4077-8656-5C039EAD2D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/>
            </a:pPr>
            <a:endParaRPr lang="it-IT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"/>
          <c:min val="0.7"/>
        </c:scaling>
        <c:delete val="0"/>
        <c:axPos val="l"/>
        <c:majorGridlines>
          <c:spPr>
            <a:ln>
              <a:solidFill>
                <a:srgbClr val="E5E5E5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  <a:endParaRPr lang="it-IT"/>
          </a:p>
        </c:txPr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/>
          </a:pPr>
          <a:endParaRPr lang="it-IT"/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43858" y="1172225"/>
            <a:ext cx="67707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643852" y="3261775"/>
            <a:ext cx="6770700" cy="5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968425" y="2227050"/>
            <a:ext cx="4462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7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3968275" y="3045375"/>
            <a:ext cx="4462500" cy="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3968350" y="1262325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/>
          <p:nvPr/>
        </p:nvSpPr>
        <p:spPr>
          <a:xfrm rot="10800000" flipH="1">
            <a:off x="1441925" y="2571600"/>
            <a:ext cx="1216200" cy="159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 rot="10800000" flipH="1">
            <a:off x="2658125" y="0"/>
            <a:ext cx="12162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200"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rial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713225" y="2371675"/>
            <a:ext cx="2987100" cy="12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Arial"/>
              <a:buChar char=""/>
              <a:defRPr sz="1400"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Arial"/>
              <a:buChar char="●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Arial"/>
              <a:buChar char="■"/>
              <a:defRPr sz="1200"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Arial"/>
              <a:buChar char="●"/>
              <a:defRPr sz="1200"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Arial"/>
              <a:buChar char="○"/>
              <a:defRPr sz="1200"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Arial"/>
              <a:buChar char="■"/>
              <a:defRPr sz="1200"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Arial"/>
              <a:buChar char="●"/>
              <a:defRPr sz="1200"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Arial"/>
              <a:buChar char="○"/>
              <a:defRPr sz="1200"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rgbClr val="000043"/>
              </a:buClr>
              <a:buSzPts val="1400"/>
              <a:buFont typeface="Arial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3962400" y="2371675"/>
            <a:ext cx="2987100" cy="12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Arial"/>
              <a:buChar char=""/>
              <a:defRPr sz="1400"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Arial"/>
              <a:buChar char="●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Arial"/>
              <a:buChar char="■"/>
              <a:defRPr sz="1200"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Arial"/>
              <a:buChar char="●"/>
              <a:defRPr sz="1200"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Arial"/>
              <a:buChar char="○"/>
              <a:defRPr sz="1200"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Arial"/>
              <a:buChar char="■"/>
              <a:defRPr sz="1200"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Arial"/>
              <a:buChar char="●"/>
              <a:defRPr sz="1200"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Arial"/>
              <a:buChar char="○"/>
              <a:defRPr sz="1200"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rgbClr val="000043"/>
              </a:buClr>
              <a:buSzPts val="1400"/>
              <a:buFont typeface="Arial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713225" y="1925800"/>
            <a:ext cx="2987100" cy="4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3962400" y="1925800"/>
            <a:ext cx="2987100" cy="4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/>
          <p:nvPr/>
        </p:nvSpPr>
        <p:spPr>
          <a:xfrm>
            <a:off x="7520700" y="205110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6304500" y="0"/>
            <a:ext cx="1216200" cy="205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6"/>
          <p:cNvSpPr/>
          <p:nvPr/>
        </p:nvSpPr>
        <p:spPr>
          <a:xfrm rot="5400000">
            <a:off x="6703350" y="270292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1156525" y="1340400"/>
            <a:ext cx="42321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1156525" y="2096100"/>
            <a:ext cx="4232100" cy="20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solidFill>
                  <a:schemeClr val="accent2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/>
          <p:nvPr/>
        </p:nvSpPr>
        <p:spPr>
          <a:xfrm>
            <a:off x="6732125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7"/>
          <p:cNvSpPr/>
          <p:nvPr/>
        </p:nvSpPr>
        <p:spPr>
          <a:xfrm>
            <a:off x="7951325" y="257175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713225" y="1170000"/>
            <a:ext cx="5533200" cy="28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7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40" name="Google Shape;40;p8"/>
          <p:cNvSpPr/>
          <p:nvPr/>
        </p:nvSpPr>
        <p:spPr>
          <a:xfrm>
            <a:off x="6732125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8"/>
          <p:cNvSpPr/>
          <p:nvPr/>
        </p:nvSpPr>
        <p:spPr>
          <a:xfrm>
            <a:off x="7951325" y="2571750"/>
            <a:ext cx="1216200" cy="134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713375" y="2227050"/>
            <a:ext cx="4462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7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ubTitle" idx="1"/>
          </p:nvPr>
        </p:nvSpPr>
        <p:spPr>
          <a:xfrm>
            <a:off x="713225" y="3045375"/>
            <a:ext cx="4462500" cy="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title" idx="2" hasCustomPrompt="1"/>
          </p:nvPr>
        </p:nvSpPr>
        <p:spPr>
          <a:xfrm>
            <a:off x="713300" y="1262325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46" name="Google Shape;46;p9"/>
          <p:cNvSpPr/>
          <p:nvPr/>
        </p:nvSpPr>
        <p:spPr>
          <a:xfrm>
            <a:off x="5270400" y="979500"/>
            <a:ext cx="1216200" cy="159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>
            <a:off x="6486600" y="2571900"/>
            <a:ext cx="12162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713225" y="544075"/>
            <a:ext cx="4264800" cy="15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8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412150"/>
            <a:ext cx="7717500" cy="165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2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713400" y="3069625"/>
            <a:ext cx="7717500" cy="6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/>
          <p:nvPr/>
        </p:nvSpPr>
        <p:spPr>
          <a:xfrm rot="10800000" flipH="1">
            <a:off x="0" y="257175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/>
          <p:nvPr/>
        </p:nvSpPr>
        <p:spPr>
          <a:xfrm rot="10800000" flipH="1">
            <a:off x="7927800" y="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8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title"/>
          </p:nvPr>
        </p:nvSpPr>
        <p:spPr>
          <a:xfrm>
            <a:off x="2683950" y="3273525"/>
            <a:ext cx="575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 flipH="1">
            <a:off x="2684000" y="1247225"/>
            <a:ext cx="5757300" cy="185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/>
          <p:nvPr/>
        </p:nvSpPr>
        <p:spPr>
          <a:xfrm rot="10800000" flipH="1">
            <a:off x="1216200" y="2571750"/>
            <a:ext cx="1216200" cy="257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/>
          <p:cNvSpPr/>
          <p:nvPr/>
        </p:nvSpPr>
        <p:spPr>
          <a:xfrm rot="10800000" flipH="1">
            <a:off x="0" y="1061825"/>
            <a:ext cx="1216200" cy="1509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ctrTitle" idx="2"/>
          </p:nvPr>
        </p:nvSpPr>
        <p:spPr>
          <a:xfrm>
            <a:off x="2310350" y="1446813"/>
            <a:ext cx="21504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title" idx="3" hasCustomPrompt="1"/>
          </p:nvPr>
        </p:nvSpPr>
        <p:spPr>
          <a:xfrm>
            <a:off x="717800" y="1521025"/>
            <a:ext cx="1493400" cy="94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7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65" name="Google Shape;65;p14"/>
          <p:cNvSpPr txBox="1">
            <a:spLocks noGrp="1"/>
          </p:cNvSpPr>
          <p:nvPr>
            <p:ph type="subTitle" idx="1"/>
          </p:nvPr>
        </p:nvSpPr>
        <p:spPr>
          <a:xfrm>
            <a:off x="2310350" y="1858875"/>
            <a:ext cx="2150400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ctrTitle" idx="4"/>
          </p:nvPr>
        </p:nvSpPr>
        <p:spPr>
          <a:xfrm>
            <a:off x="6233050" y="1446813"/>
            <a:ext cx="21504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title" idx="5" hasCustomPrompt="1"/>
          </p:nvPr>
        </p:nvSpPr>
        <p:spPr>
          <a:xfrm>
            <a:off x="4686400" y="1521025"/>
            <a:ext cx="1493400" cy="94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7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14"/>
          <p:cNvSpPr txBox="1">
            <a:spLocks noGrp="1"/>
          </p:cNvSpPr>
          <p:nvPr>
            <p:ph type="subTitle" idx="6"/>
          </p:nvPr>
        </p:nvSpPr>
        <p:spPr>
          <a:xfrm>
            <a:off x="6275800" y="1858878"/>
            <a:ext cx="2150400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ctrTitle" idx="7"/>
          </p:nvPr>
        </p:nvSpPr>
        <p:spPr>
          <a:xfrm>
            <a:off x="2310350" y="2868777"/>
            <a:ext cx="21504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title" idx="8" hasCustomPrompt="1"/>
          </p:nvPr>
        </p:nvSpPr>
        <p:spPr>
          <a:xfrm>
            <a:off x="717800" y="2960450"/>
            <a:ext cx="1493400" cy="94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7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14"/>
          <p:cNvSpPr txBox="1">
            <a:spLocks noGrp="1"/>
          </p:cNvSpPr>
          <p:nvPr>
            <p:ph type="subTitle" idx="9"/>
          </p:nvPr>
        </p:nvSpPr>
        <p:spPr>
          <a:xfrm>
            <a:off x="2310350" y="3298325"/>
            <a:ext cx="2150400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ctrTitle" idx="13"/>
          </p:nvPr>
        </p:nvSpPr>
        <p:spPr>
          <a:xfrm>
            <a:off x="6275650" y="2868775"/>
            <a:ext cx="21504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title" idx="14" hasCustomPrompt="1"/>
          </p:nvPr>
        </p:nvSpPr>
        <p:spPr>
          <a:xfrm>
            <a:off x="4686400" y="2960450"/>
            <a:ext cx="1493400" cy="94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7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Font typeface="Arial"/>
              <a:buNone/>
              <a:defRPr sz="80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14"/>
          <p:cNvSpPr txBox="1">
            <a:spLocks noGrp="1"/>
          </p:cNvSpPr>
          <p:nvPr>
            <p:ph type="subTitle" idx="15"/>
          </p:nvPr>
        </p:nvSpPr>
        <p:spPr>
          <a:xfrm>
            <a:off x="6275800" y="3298325"/>
            <a:ext cx="2150400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5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457200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3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ubTitle" idx="1"/>
          </p:nvPr>
        </p:nvSpPr>
        <p:spPr>
          <a:xfrm>
            <a:off x="1454225" y="33913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subTitle" idx="2"/>
          </p:nvPr>
        </p:nvSpPr>
        <p:spPr>
          <a:xfrm>
            <a:off x="1454225" y="37667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subTitle" idx="3"/>
          </p:nvPr>
        </p:nvSpPr>
        <p:spPr>
          <a:xfrm>
            <a:off x="5427875" y="33913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subTitle" idx="4"/>
          </p:nvPr>
        </p:nvSpPr>
        <p:spPr>
          <a:xfrm>
            <a:off x="5427875" y="37667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15"/>
          <p:cNvSpPr/>
          <p:nvPr/>
        </p:nvSpPr>
        <p:spPr>
          <a:xfrm rot="5400000">
            <a:off x="-2131350" y="2050000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5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ubTitle" idx="1"/>
          </p:nvPr>
        </p:nvSpPr>
        <p:spPr>
          <a:xfrm>
            <a:off x="1098800" y="3775200"/>
            <a:ext cx="28131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subTitle" idx="2"/>
          </p:nvPr>
        </p:nvSpPr>
        <p:spPr>
          <a:xfrm>
            <a:off x="1098800" y="3051300"/>
            <a:ext cx="28131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subTitle" idx="3"/>
          </p:nvPr>
        </p:nvSpPr>
        <p:spPr>
          <a:xfrm>
            <a:off x="1098800" y="2315550"/>
            <a:ext cx="28131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subTitle" idx="4"/>
          </p:nvPr>
        </p:nvSpPr>
        <p:spPr>
          <a:xfrm>
            <a:off x="1098800" y="1591650"/>
            <a:ext cx="28131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16"/>
          <p:cNvSpPr/>
          <p:nvPr/>
        </p:nvSpPr>
        <p:spPr>
          <a:xfrm rot="10800000" flipH="1">
            <a:off x="5416200" y="1010100"/>
            <a:ext cx="1216200" cy="156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6"/>
          <p:cNvSpPr/>
          <p:nvPr/>
        </p:nvSpPr>
        <p:spPr>
          <a:xfrm rot="10800000" flipH="1">
            <a:off x="6632400" y="2571600"/>
            <a:ext cx="1216200" cy="25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ubTitle" idx="1"/>
          </p:nvPr>
        </p:nvSpPr>
        <p:spPr>
          <a:xfrm>
            <a:off x="788100" y="23904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subTitle" idx="2"/>
          </p:nvPr>
        </p:nvSpPr>
        <p:spPr>
          <a:xfrm>
            <a:off x="788100" y="27658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subTitle" idx="3"/>
          </p:nvPr>
        </p:nvSpPr>
        <p:spPr>
          <a:xfrm>
            <a:off x="3441150" y="23904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ubTitle" idx="4"/>
          </p:nvPr>
        </p:nvSpPr>
        <p:spPr>
          <a:xfrm>
            <a:off x="3441150" y="27658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subTitle" idx="5"/>
          </p:nvPr>
        </p:nvSpPr>
        <p:spPr>
          <a:xfrm>
            <a:off x="6094200" y="23904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subTitle" idx="6"/>
          </p:nvPr>
        </p:nvSpPr>
        <p:spPr>
          <a:xfrm>
            <a:off x="6094200" y="27658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17"/>
          <p:cNvSpPr/>
          <p:nvPr/>
        </p:nvSpPr>
        <p:spPr>
          <a:xfrm flipH="1">
            <a:off x="457200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7"/>
          <p:cNvSpPr/>
          <p:nvPr/>
        </p:nvSpPr>
        <p:spPr>
          <a:xfrm flipH="1">
            <a:off x="5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">
  <p:cSld name="CUSTOM_3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subTitle" idx="1"/>
          </p:nvPr>
        </p:nvSpPr>
        <p:spPr>
          <a:xfrm>
            <a:off x="1878275" y="1251675"/>
            <a:ext cx="2787600" cy="4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ubTitle" idx="2"/>
          </p:nvPr>
        </p:nvSpPr>
        <p:spPr>
          <a:xfrm>
            <a:off x="1878275" y="1744345"/>
            <a:ext cx="2787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subTitle" idx="3"/>
          </p:nvPr>
        </p:nvSpPr>
        <p:spPr>
          <a:xfrm>
            <a:off x="5351497" y="1251675"/>
            <a:ext cx="2787600" cy="4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ubTitle" idx="4"/>
          </p:nvPr>
        </p:nvSpPr>
        <p:spPr>
          <a:xfrm>
            <a:off x="5351493" y="1744282"/>
            <a:ext cx="2787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subTitle" idx="5"/>
          </p:nvPr>
        </p:nvSpPr>
        <p:spPr>
          <a:xfrm>
            <a:off x="1878275" y="2898148"/>
            <a:ext cx="2787600" cy="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subTitle" idx="6"/>
          </p:nvPr>
        </p:nvSpPr>
        <p:spPr>
          <a:xfrm>
            <a:off x="1878275" y="3390754"/>
            <a:ext cx="2787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subTitle" idx="7"/>
          </p:nvPr>
        </p:nvSpPr>
        <p:spPr>
          <a:xfrm>
            <a:off x="5351425" y="2898156"/>
            <a:ext cx="2787600" cy="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subTitle" idx="8"/>
          </p:nvPr>
        </p:nvSpPr>
        <p:spPr>
          <a:xfrm>
            <a:off x="5351425" y="3390754"/>
            <a:ext cx="2787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subTitle" idx="9"/>
          </p:nvPr>
        </p:nvSpPr>
        <p:spPr>
          <a:xfrm rot="-5400803">
            <a:off x="609009" y="1779468"/>
            <a:ext cx="12843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subTitle" idx="13"/>
          </p:nvPr>
        </p:nvSpPr>
        <p:spPr>
          <a:xfrm rot="-5400000">
            <a:off x="609075" y="3422400"/>
            <a:ext cx="12843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4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subTitle" idx="1"/>
          </p:nvPr>
        </p:nvSpPr>
        <p:spPr>
          <a:xfrm>
            <a:off x="5951340" y="1570850"/>
            <a:ext cx="2479500" cy="4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algn="r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subTitle" idx="2"/>
          </p:nvPr>
        </p:nvSpPr>
        <p:spPr>
          <a:xfrm>
            <a:off x="5951336" y="1941975"/>
            <a:ext cx="24795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subTitle" idx="3"/>
          </p:nvPr>
        </p:nvSpPr>
        <p:spPr>
          <a:xfrm>
            <a:off x="5951276" y="3064926"/>
            <a:ext cx="2479500" cy="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algn="r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subTitle" idx="4"/>
          </p:nvPr>
        </p:nvSpPr>
        <p:spPr>
          <a:xfrm>
            <a:off x="5951276" y="3436049"/>
            <a:ext cx="24795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subTitle" idx="5"/>
          </p:nvPr>
        </p:nvSpPr>
        <p:spPr>
          <a:xfrm>
            <a:off x="3156090" y="1570850"/>
            <a:ext cx="2479500" cy="4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algn="r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subTitle" idx="6"/>
          </p:nvPr>
        </p:nvSpPr>
        <p:spPr>
          <a:xfrm>
            <a:off x="3156036" y="1941975"/>
            <a:ext cx="24795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ubTitle" idx="7"/>
          </p:nvPr>
        </p:nvSpPr>
        <p:spPr>
          <a:xfrm>
            <a:off x="3156026" y="3064926"/>
            <a:ext cx="2479500" cy="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algn="r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subTitle" idx="8"/>
          </p:nvPr>
        </p:nvSpPr>
        <p:spPr>
          <a:xfrm>
            <a:off x="3155976" y="3436049"/>
            <a:ext cx="24795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4" name="Google Shape;124;p19"/>
          <p:cNvSpPr/>
          <p:nvPr/>
        </p:nvSpPr>
        <p:spPr>
          <a:xfrm rot="10800000">
            <a:off x="0" y="257175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9"/>
          <p:cNvSpPr/>
          <p:nvPr/>
        </p:nvSpPr>
        <p:spPr>
          <a:xfrm rot="10800000">
            <a:off x="1216200" y="1061825"/>
            <a:ext cx="1216200" cy="15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CUSTOM_6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3984975" y="1495800"/>
            <a:ext cx="4055400" cy="72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ubTitle" idx="1"/>
          </p:nvPr>
        </p:nvSpPr>
        <p:spPr>
          <a:xfrm>
            <a:off x="3994375" y="2142600"/>
            <a:ext cx="4055400" cy="15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0"/>
          <p:cNvSpPr/>
          <p:nvPr/>
        </p:nvSpPr>
        <p:spPr>
          <a:xfrm rot="10800000" flipH="1">
            <a:off x="0" y="2571825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0"/>
          <p:cNvSpPr/>
          <p:nvPr/>
        </p:nvSpPr>
        <p:spPr>
          <a:xfrm rot="10800000" flipH="1">
            <a:off x="1219200" y="1247175"/>
            <a:ext cx="1216200" cy="132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CUSTOM_10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3730075" y="1631700"/>
            <a:ext cx="4700700" cy="10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subTitle" idx="1"/>
          </p:nvPr>
        </p:nvSpPr>
        <p:spPr>
          <a:xfrm>
            <a:off x="3730075" y="2726700"/>
            <a:ext cx="4700700" cy="8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1"/>
          <p:cNvSpPr/>
          <p:nvPr/>
        </p:nvSpPr>
        <p:spPr>
          <a:xfrm rot="10800000" flipH="1">
            <a:off x="2110925" y="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1"/>
          <p:cNvSpPr/>
          <p:nvPr/>
        </p:nvSpPr>
        <p:spPr>
          <a:xfrm rot="10800000" flipH="1">
            <a:off x="0" y="257175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4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9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7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9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p23"/>
          <p:cNvSpPr/>
          <p:nvPr/>
        </p:nvSpPr>
        <p:spPr>
          <a:xfrm flipH="1">
            <a:off x="5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3"/>
          <p:cNvSpPr/>
          <p:nvPr/>
        </p:nvSpPr>
        <p:spPr>
          <a:xfrm flipH="1">
            <a:off x="457200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24"/>
          <p:cNvSpPr txBox="1">
            <a:spLocks noGrp="1"/>
          </p:cNvSpPr>
          <p:nvPr>
            <p:ph type="subTitle" idx="1"/>
          </p:nvPr>
        </p:nvSpPr>
        <p:spPr>
          <a:xfrm>
            <a:off x="717800" y="1255775"/>
            <a:ext cx="4631700" cy="33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5" name="Google Shape;145;p24"/>
          <p:cNvSpPr/>
          <p:nvPr/>
        </p:nvSpPr>
        <p:spPr>
          <a:xfrm>
            <a:off x="7927800" y="257160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1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>
            <a:spLocks noGrp="1"/>
          </p:cNvSpPr>
          <p:nvPr>
            <p:ph type="title" hasCustomPrompt="1"/>
          </p:nvPr>
        </p:nvSpPr>
        <p:spPr>
          <a:xfrm>
            <a:off x="750975" y="2819150"/>
            <a:ext cx="2164200" cy="64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8" name="Google Shape;148;p25"/>
          <p:cNvSpPr txBox="1">
            <a:spLocks noGrp="1"/>
          </p:cNvSpPr>
          <p:nvPr>
            <p:ph type="subTitle" idx="1"/>
          </p:nvPr>
        </p:nvSpPr>
        <p:spPr>
          <a:xfrm>
            <a:off x="750975" y="3390050"/>
            <a:ext cx="216420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25"/>
          <p:cNvSpPr txBox="1">
            <a:spLocks noGrp="1"/>
          </p:cNvSpPr>
          <p:nvPr>
            <p:ph type="title" idx="2" hasCustomPrompt="1"/>
          </p:nvPr>
        </p:nvSpPr>
        <p:spPr>
          <a:xfrm>
            <a:off x="3508587" y="2819150"/>
            <a:ext cx="2164200" cy="64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0" name="Google Shape;150;p25"/>
          <p:cNvSpPr txBox="1">
            <a:spLocks noGrp="1"/>
          </p:cNvSpPr>
          <p:nvPr>
            <p:ph type="subTitle" idx="3"/>
          </p:nvPr>
        </p:nvSpPr>
        <p:spPr>
          <a:xfrm>
            <a:off x="3508587" y="3390050"/>
            <a:ext cx="216420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25"/>
          <p:cNvSpPr txBox="1">
            <a:spLocks noGrp="1"/>
          </p:cNvSpPr>
          <p:nvPr>
            <p:ph type="title" idx="4"/>
          </p:nvPr>
        </p:nvSpPr>
        <p:spPr>
          <a:xfrm>
            <a:off x="717800" y="383175"/>
            <a:ext cx="770820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2" name="Google Shape;152;p25"/>
          <p:cNvSpPr txBox="1">
            <a:spLocks noGrp="1"/>
          </p:cNvSpPr>
          <p:nvPr>
            <p:ph type="title" idx="5" hasCustomPrompt="1"/>
          </p:nvPr>
        </p:nvSpPr>
        <p:spPr>
          <a:xfrm>
            <a:off x="6216100" y="2819150"/>
            <a:ext cx="2164200" cy="64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3" name="Google Shape;153;p25"/>
          <p:cNvSpPr txBox="1">
            <a:spLocks noGrp="1"/>
          </p:cNvSpPr>
          <p:nvPr>
            <p:ph type="subTitle" idx="6"/>
          </p:nvPr>
        </p:nvSpPr>
        <p:spPr>
          <a:xfrm>
            <a:off x="6216100" y="3390050"/>
            <a:ext cx="216420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25"/>
          <p:cNvSpPr/>
          <p:nvPr/>
        </p:nvSpPr>
        <p:spPr>
          <a:xfrm flipH="1">
            <a:off x="5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5"/>
          <p:cNvSpPr/>
          <p:nvPr/>
        </p:nvSpPr>
        <p:spPr>
          <a:xfrm flipH="1">
            <a:off x="457200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2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>
            <a:spLocks noGrp="1"/>
          </p:cNvSpPr>
          <p:nvPr>
            <p:ph type="subTitle" idx="1"/>
          </p:nvPr>
        </p:nvSpPr>
        <p:spPr>
          <a:xfrm>
            <a:off x="711900" y="14760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26"/>
          <p:cNvSpPr txBox="1">
            <a:spLocks noGrp="1"/>
          </p:cNvSpPr>
          <p:nvPr>
            <p:ph type="subTitle" idx="2"/>
          </p:nvPr>
        </p:nvSpPr>
        <p:spPr>
          <a:xfrm>
            <a:off x="711900" y="18514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26"/>
          <p:cNvSpPr txBox="1">
            <a:spLocks noGrp="1"/>
          </p:cNvSpPr>
          <p:nvPr>
            <p:ph type="subTitle" idx="3"/>
          </p:nvPr>
        </p:nvSpPr>
        <p:spPr>
          <a:xfrm>
            <a:off x="2983950" y="14760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0" name="Google Shape;160;p26"/>
          <p:cNvSpPr txBox="1">
            <a:spLocks noGrp="1"/>
          </p:cNvSpPr>
          <p:nvPr>
            <p:ph type="subTitle" idx="4"/>
          </p:nvPr>
        </p:nvSpPr>
        <p:spPr>
          <a:xfrm>
            <a:off x="2983950" y="18514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1" name="Google Shape;161;p26"/>
          <p:cNvSpPr txBox="1">
            <a:spLocks noGrp="1"/>
          </p:cNvSpPr>
          <p:nvPr>
            <p:ph type="subTitle" idx="5"/>
          </p:nvPr>
        </p:nvSpPr>
        <p:spPr>
          <a:xfrm>
            <a:off x="5256000" y="14760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2" name="Google Shape;162;p26"/>
          <p:cNvSpPr txBox="1">
            <a:spLocks noGrp="1"/>
          </p:cNvSpPr>
          <p:nvPr>
            <p:ph type="subTitle" idx="6"/>
          </p:nvPr>
        </p:nvSpPr>
        <p:spPr>
          <a:xfrm>
            <a:off x="5256000" y="18514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26"/>
          <p:cNvSpPr txBox="1">
            <a:spLocks noGrp="1"/>
          </p:cNvSpPr>
          <p:nvPr>
            <p:ph type="subTitle" idx="7"/>
          </p:nvPr>
        </p:nvSpPr>
        <p:spPr>
          <a:xfrm>
            <a:off x="711900" y="29522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4" name="Google Shape;164;p26"/>
          <p:cNvSpPr txBox="1">
            <a:spLocks noGrp="1"/>
          </p:cNvSpPr>
          <p:nvPr>
            <p:ph type="subTitle" idx="8"/>
          </p:nvPr>
        </p:nvSpPr>
        <p:spPr>
          <a:xfrm>
            <a:off x="711900" y="33276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5" name="Google Shape;165;p26"/>
          <p:cNvSpPr txBox="1">
            <a:spLocks noGrp="1"/>
          </p:cNvSpPr>
          <p:nvPr>
            <p:ph type="subTitle" idx="9"/>
          </p:nvPr>
        </p:nvSpPr>
        <p:spPr>
          <a:xfrm>
            <a:off x="2983950" y="29522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26"/>
          <p:cNvSpPr txBox="1">
            <a:spLocks noGrp="1"/>
          </p:cNvSpPr>
          <p:nvPr>
            <p:ph type="subTitle" idx="13"/>
          </p:nvPr>
        </p:nvSpPr>
        <p:spPr>
          <a:xfrm>
            <a:off x="2983950" y="33276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26"/>
          <p:cNvSpPr txBox="1">
            <a:spLocks noGrp="1"/>
          </p:cNvSpPr>
          <p:nvPr>
            <p:ph type="subTitle" idx="14"/>
          </p:nvPr>
        </p:nvSpPr>
        <p:spPr>
          <a:xfrm>
            <a:off x="5256000" y="29522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26"/>
          <p:cNvSpPr txBox="1">
            <a:spLocks noGrp="1"/>
          </p:cNvSpPr>
          <p:nvPr>
            <p:ph type="subTitle" idx="15"/>
          </p:nvPr>
        </p:nvSpPr>
        <p:spPr>
          <a:xfrm>
            <a:off x="5256000" y="33276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26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0" name="Google Shape;170;p26"/>
          <p:cNvSpPr/>
          <p:nvPr/>
        </p:nvSpPr>
        <p:spPr>
          <a:xfrm>
            <a:off x="7927800" y="257160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6"/>
          <p:cNvSpPr/>
          <p:nvPr/>
        </p:nvSpPr>
        <p:spPr>
          <a:xfrm>
            <a:off x="7927800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5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858900" cy="13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7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74" name="Google Shape;174;p27"/>
          <p:cNvSpPr txBox="1"/>
          <p:nvPr/>
        </p:nvSpPr>
        <p:spPr>
          <a:xfrm>
            <a:off x="713225" y="3485675"/>
            <a:ext cx="39561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CREDITS: This presentation template was created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including icons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and infographics &amp; images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7"/>
          <p:cNvSpPr/>
          <p:nvPr/>
        </p:nvSpPr>
        <p:spPr>
          <a:xfrm>
            <a:off x="6711600" y="257160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7"/>
          <p:cNvSpPr/>
          <p:nvPr/>
        </p:nvSpPr>
        <p:spPr>
          <a:xfrm>
            <a:off x="7927800" y="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28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Arial"/>
              <a:buChar char="●"/>
              <a:defRPr sz="1100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Arial"/>
              <a:buChar char="○"/>
              <a:defRPr sz="1100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Arial"/>
              <a:buChar char="■"/>
              <a:defRPr sz="1100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Arial"/>
              <a:buChar char="●"/>
              <a:defRPr sz="1100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Arial"/>
              <a:buChar char="○"/>
              <a:defRPr sz="1100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Arial"/>
              <a:buChar char="■"/>
              <a:defRPr sz="1100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Arial"/>
              <a:buChar char="●"/>
              <a:defRPr sz="1100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Arial"/>
              <a:buChar char="○"/>
              <a:defRPr sz="1100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Arial"/>
              <a:buChar char="■"/>
              <a:defRPr sz="1100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1" name="Google Shape;185;p30"/>
          <p:cNvSpPr txBox="1">
            <a:spLocks noGrp="1"/>
          </p:cNvSpPr>
          <p:nvPr>
            <p:ph type="ctrTitle"/>
          </p:nvPr>
        </p:nvSpPr>
        <p:spPr>
          <a:xfrm>
            <a:off x="1643858" y="1172225"/>
            <a:ext cx="67707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1"/>
                </a:solidFill>
              </a:rPr>
              <a:t>Training an LLM for the</a:t>
            </a:r>
            <a:endParaRPr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1"/>
                </a:solidFill>
              </a:rPr>
              <a:t>Iterative Selection of </a:t>
            </a:r>
            <a:r>
              <a:rPr lang="en" sz="3000">
                <a:solidFill>
                  <a:srgbClr val="4A8CFF"/>
                </a:solidFill>
              </a:rPr>
              <a:t>Pictograms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002" name="Google Shape;186;p30"/>
          <p:cNvSpPr txBox="1">
            <a:spLocks noGrp="1"/>
          </p:cNvSpPr>
          <p:nvPr>
            <p:ph type="subTitle" idx="1"/>
          </p:nvPr>
        </p:nvSpPr>
        <p:spPr>
          <a:xfrm>
            <a:off x="1643852" y="3261775"/>
            <a:ext cx="6770700" cy="5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Big Data Analytics and Text Mining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Davide  Ligabue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3" name="Google Shape;235;p36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should the model output?</a:t>
            </a:r>
            <a:endParaRPr dirty="0"/>
          </a:p>
        </p:txBody>
      </p:sp>
      <p:sp>
        <p:nvSpPr>
          <p:cNvPr id="5004" name="Google Shape;236;p36"/>
          <p:cNvSpPr txBox="1">
            <a:spLocks noGrp="1"/>
          </p:cNvSpPr>
          <p:nvPr>
            <p:ph type="subTitle" idx="1"/>
          </p:nvPr>
        </p:nvSpPr>
        <p:spPr>
          <a:xfrm>
            <a:off x="788100" y="23904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id</a:t>
            </a:r>
            <a:endParaRPr/>
          </a:p>
        </p:txBody>
      </p:sp>
      <p:sp>
        <p:nvSpPr>
          <p:cNvPr id="5005" name="Google Shape;237;p36"/>
          <p:cNvSpPr txBox="1">
            <a:spLocks noGrp="1"/>
          </p:cNvSpPr>
          <p:nvPr>
            <p:ph type="subTitle" idx="2"/>
          </p:nvPr>
        </p:nvSpPr>
        <p:spPr>
          <a:xfrm>
            <a:off x="788100" y="27658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the ARASAAC number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003BA3"/>
                </a:solidFill>
                <a:latin typeface="Courier New"/>
              </a:rPr>
              <a:t>11178</a:t>
            </a:r>
            <a:endParaRPr/>
          </a:p>
        </p:txBody>
      </p:sp>
      <p:sp>
        <p:nvSpPr>
          <p:cNvPr id="5006" name="Google Shape;238;p36"/>
          <p:cNvSpPr txBox="1">
            <a:spLocks noGrp="1"/>
          </p:cNvSpPr>
          <p:nvPr>
            <p:ph type="subTitle" idx="3"/>
          </p:nvPr>
        </p:nvSpPr>
        <p:spPr>
          <a:xfrm>
            <a:off x="3441150" y="23904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text</a:t>
            </a:r>
            <a:endParaRPr/>
          </a:p>
        </p:txBody>
      </p:sp>
      <p:sp>
        <p:nvSpPr>
          <p:cNvPr id="5007" name="Google Shape;239;p36"/>
          <p:cNvSpPr txBox="1">
            <a:spLocks noGrp="1"/>
          </p:cNvSpPr>
          <p:nvPr>
            <p:ph type="subTitle" idx="4"/>
          </p:nvPr>
        </p:nvSpPr>
        <p:spPr>
          <a:xfrm>
            <a:off x="3441150" y="27658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a description, looked up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003BA3"/>
                </a:solidFill>
                <a:latin typeface="Courier New"/>
              </a:rPr>
              <a:t>love, sweetheart</a:t>
            </a:r>
            <a:endParaRPr/>
          </a:p>
        </p:txBody>
      </p:sp>
      <p:sp>
        <p:nvSpPr>
          <p:cNvPr id="5008" name="Google Shape;240;p36"/>
          <p:cNvSpPr txBox="1">
            <a:spLocks noGrp="1"/>
          </p:cNvSpPr>
          <p:nvPr>
            <p:ph type="subTitle" idx="5"/>
          </p:nvPr>
        </p:nvSpPr>
        <p:spPr>
          <a:xfrm>
            <a:off x="6094200" y="23904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picto</a:t>
            </a:r>
            <a:endParaRPr/>
          </a:p>
        </p:txBody>
      </p:sp>
      <p:sp>
        <p:nvSpPr>
          <p:cNvPr id="5009" name="Google Shape;241;p36"/>
          <p:cNvSpPr txBox="1">
            <a:spLocks noGrp="1"/>
          </p:cNvSpPr>
          <p:nvPr>
            <p:ph type="subTitle" idx="6"/>
          </p:nvPr>
        </p:nvSpPr>
        <p:spPr>
          <a:xfrm>
            <a:off x="6094200" y="27658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a new vocabulary token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003BA3"/>
                </a:solidFill>
                <a:latin typeface="Courier New"/>
              </a:rPr>
              <a:t>[PICTO_11178]</a:t>
            </a:r>
            <a:endParaRPr/>
          </a:p>
        </p:txBody>
      </p:sp>
      <p:sp>
        <p:nvSpPr>
          <p:cNvPr id="5015" name="TextBox 5014"/>
          <p:cNvSpPr txBox="1"/>
          <p:nvPr/>
        </p:nvSpPr>
        <p:spPr>
          <a:xfrm>
            <a:off x="822960" y="1051560"/>
            <a:ext cx="7498079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dirty="0">
                <a:solidFill>
                  <a:srgbClr val="000000"/>
                </a:solidFill>
                <a:latin typeface="Arial"/>
              </a:rPr>
              <a:t>People who cannot rely on speech build messages one pictogram at a time (AAC).</a:t>
            </a:r>
            <a:br>
              <a:rPr lang="en-US" sz="1200" b="0" i="0" dirty="0">
                <a:solidFill>
                  <a:srgbClr val="000000"/>
                </a:solidFill>
                <a:latin typeface="Arial"/>
              </a:rPr>
            </a:br>
            <a:r>
              <a:rPr sz="1200" b="0" i="0" dirty="0">
                <a:solidFill>
                  <a:srgbClr val="000000"/>
                </a:solidFill>
                <a:latin typeface="Arial"/>
              </a:rPr>
              <a:t>Given the pictograms chosen so far, the model proposes the next one.</a:t>
            </a:r>
          </a:p>
        </p:txBody>
      </p:sp>
      <p:grpSp>
        <p:nvGrpSpPr>
          <p:cNvPr id="2" name="Google Shape;9586;p77"/>
          <p:cNvGrpSpPr/>
          <p:nvPr/>
        </p:nvGrpSpPr>
        <p:grpSpPr>
          <a:xfrm>
            <a:off x="1691640" y="1920240"/>
            <a:ext cx="457200" cy="443655"/>
            <a:chOff x="-59481900" y="2290800"/>
            <a:chExt cx="319000" cy="309550"/>
          </a:xfrm>
        </p:grpSpPr>
        <p:sp>
          <p:nvSpPr>
            <p:cNvPr id="5016" name="Google Shape;9587;p77"/>
            <p:cNvSpPr/>
            <p:nvPr/>
          </p:nvSpPr>
          <p:spPr>
            <a:xfrm>
              <a:off x="-59481900" y="2290800"/>
              <a:ext cx="319000" cy="309550"/>
            </a:xfrm>
            <a:custGeom>
              <a:avLst/>
              <a:gdLst/>
              <a:ahLst/>
              <a:cxnLst/>
              <a:rect l="l" t="t" r="r" b="b"/>
              <a:pathLst>
                <a:path w="12760" h="12382" extrusionOk="0">
                  <a:moveTo>
                    <a:pt x="6427" y="851"/>
                  </a:moveTo>
                  <a:cubicBezTo>
                    <a:pt x="6900" y="851"/>
                    <a:pt x="7247" y="1197"/>
                    <a:pt x="7247" y="1670"/>
                  </a:cubicBezTo>
                  <a:lnTo>
                    <a:pt x="7247" y="4159"/>
                  </a:lnTo>
                  <a:lnTo>
                    <a:pt x="5608" y="4159"/>
                  </a:lnTo>
                  <a:lnTo>
                    <a:pt x="5608" y="1670"/>
                  </a:lnTo>
                  <a:cubicBezTo>
                    <a:pt x="5608" y="1197"/>
                    <a:pt x="5955" y="851"/>
                    <a:pt x="6427" y="851"/>
                  </a:cubicBezTo>
                  <a:close/>
                  <a:moveTo>
                    <a:pt x="11594" y="3308"/>
                  </a:moveTo>
                  <a:cubicBezTo>
                    <a:pt x="11846" y="3308"/>
                    <a:pt x="12004" y="3529"/>
                    <a:pt x="12004" y="3749"/>
                  </a:cubicBezTo>
                  <a:lnTo>
                    <a:pt x="12004" y="11185"/>
                  </a:lnTo>
                  <a:lnTo>
                    <a:pt x="11941" y="11185"/>
                  </a:lnTo>
                  <a:cubicBezTo>
                    <a:pt x="11941" y="11437"/>
                    <a:pt x="11752" y="11594"/>
                    <a:pt x="11563" y="11594"/>
                  </a:cubicBezTo>
                  <a:lnTo>
                    <a:pt x="1355" y="11594"/>
                  </a:lnTo>
                  <a:cubicBezTo>
                    <a:pt x="1103" y="11594"/>
                    <a:pt x="914" y="11405"/>
                    <a:pt x="914" y="11185"/>
                  </a:cubicBezTo>
                  <a:lnTo>
                    <a:pt x="914" y="3749"/>
                  </a:lnTo>
                  <a:cubicBezTo>
                    <a:pt x="914" y="3529"/>
                    <a:pt x="1103" y="3308"/>
                    <a:pt x="1355" y="3308"/>
                  </a:cubicBezTo>
                  <a:lnTo>
                    <a:pt x="4821" y="3308"/>
                  </a:lnTo>
                  <a:lnTo>
                    <a:pt x="4821" y="4568"/>
                  </a:lnTo>
                  <a:cubicBezTo>
                    <a:pt x="4821" y="4821"/>
                    <a:pt x="5010" y="5010"/>
                    <a:pt x="5199" y="5010"/>
                  </a:cubicBezTo>
                  <a:lnTo>
                    <a:pt x="7688" y="5010"/>
                  </a:lnTo>
                  <a:cubicBezTo>
                    <a:pt x="7940" y="5010"/>
                    <a:pt x="8129" y="4821"/>
                    <a:pt x="8129" y="4568"/>
                  </a:cubicBezTo>
                  <a:lnTo>
                    <a:pt x="8129" y="3308"/>
                  </a:lnTo>
                  <a:close/>
                  <a:moveTo>
                    <a:pt x="6396" y="0"/>
                  </a:moveTo>
                  <a:cubicBezTo>
                    <a:pt x="5482" y="0"/>
                    <a:pt x="4726" y="756"/>
                    <a:pt x="4726" y="1670"/>
                  </a:cubicBezTo>
                  <a:lnTo>
                    <a:pt x="4726" y="2489"/>
                  </a:lnTo>
                  <a:lnTo>
                    <a:pt x="1261" y="2489"/>
                  </a:lnTo>
                  <a:cubicBezTo>
                    <a:pt x="599" y="2489"/>
                    <a:pt x="0" y="3056"/>
                    <a:pt x="0" y="3718"/>
                  </a:cubicBezTo>
                  <a:lnTo>
                    <a:pt x="0" y="11153"/>
                  </a:lnTo>
                  <a:cubicBezTo>
                    <a:pt x="0" y="11815"/>
                    <a:pt x="568" y="12382"/>
                    <a:pt x="1261" y="12382"/>
                  </a:cubicBezTo>
                  <a:lnTo>
                    <a:pt x="11468" y="12382"/>
                  </a:lnTo>
                  <a:cubicBezTo>
                    <a:pt x="12130" y="12382"/>
                    <a:pt x="12697" y="11815"/>
                    <a:pt x="12697" y="11153"/>
                  </a:cubicBezTo>
                  <a:lnTo>
                    <a:pt x="12697" y="3749"/>
                  </a:lnTo>
                  <a:cubicBezTo>
                    <a:pt x="12760" y="3025"/>
                    <a:pt x="12193" y="2489"/>
                    <a:pt x="11500" y="2489"/>
                  </a:cubicBezTo>
                  <a:lnTo>
                    <a:pt x="8034" y="2489"/>
                  </a:lnTo>
                  <a:lnTo>
                    <a:pt x="8034" y="1670"/>
                  </a:lnTo>
                  <a:cubicBezTo>
                    <a:pt x="8034" y="756"/>
                    <a:pt x="7310" y="0"/>
                    <a:pt x="6396" y="0"/>
                  </a:cubicBezTo>
                  <a:close/>
                </a:path>
              </a:pathLst>
            </a:custGeom>
            <a:solidFill>
              <a:srgbClr val="003B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9588;p77"/>
            <p:cNvSpPr/>
            <p:nvPr/>
          </p:nvSpPr>
          <p:spPr>
            <a:xfrm>
              <a:off x="-59287350" y="2456200"/>
              <a:ext cx="83500" cy="21275"/>
            </a:xfrm>
            <a:custGeom>
              <a:avLst/>
              <a:gdLst/>
              <a:ahLst/>
              <a:cxnLst/>
              <a:rect l="l" t="t" r="r" b="b"/>
              <a:pathLst>
                <a:path w="3340" h="851" extrusionOk="0">
                  <a:moveTo>
                    <a:pt x="410" y="0"/>
                  </a:moveTo>
                  <a:cubicBezTo>
                    <a:pt x="189" y="0"/>
                    <a:pt x="0" y="221"/>
                    <a:pt x="0" y="441"/>
                  </a:cubicBezTo>
                  <a:cubicBezTo>
                    <a:pt x="0" y="693"/>
                    <a:pt x="189" y="851"/>
                    <a:pt x="410" y="851"/>
                  </a:cubicBezTo>
                  <a:lnTo>
                    <a:pt x="2899" y="851"/>
                  </a:lnTo>
                  <a:cubicBezTo>
                    <a:pt x="3151" y="851"/>
                    <a:pt x="3308" y="630"/>
                    <a:pt x="3308" y="441"/>
                  </a:cubicBezTo>
                  <a:cubicBezTo>
                    <a:pt x="3340" y="221"/>
                    <a:pt x="3151" y="0"/>
                    <a:pt x="2899" y="0"/>
                  </a:cubicBezTo>
                  <a:close/>
                </a:path>
              </a:pathLst>
            </a:custGeom>
            <a:solidFill>
              <a:srgbClr val="003B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9589;p77"/>
            <p:cNvSpPr/>
            <p:nvPr/>
          </p:nvSpPr>
          <p:spPr>
            <a:xfrm>
              <a:off x="-59287350" y="2497950"/>
              <a:ext cx="83500" cy="21275"/>
            </a:xfrm>
            <a:custGeom>
              <a:avLst/>
              <a:gdLst/>
              <a:ahLst/>
              <a:cxnLst/>
              <a:rect l="l" t="t" r="r" b="b"/>
              <a:pathLst>
                <a:path w="3340" h="851" extrusionOk="0">
                  <a:moveTo>
                    <a:pt x="410" y="0"/>
                  </a:moveTo>
                  <a:cubicBezTo>
                    <a:pt x="189" y="0"/>
                    <a:pt x="0" y="189"/>
                    <a:pt x="0" y="441"/>
                  </a:cubicBezTo>
                  <a:cubicBezTo>
                    <a:pt x="0" y="662"/>
                    <a:pt x="189" y="851"/>
                    <a:pt x="410" y="851"/>
                  </a:cubicBezTo>
                  <a:lnTo>
                    <a:pt x="2899" y="851"/>
                  </a:lnTo>
                  <a:cubicBezTo>
                    <a:pt x="3151" y="851"/>
                    <a:pt x="3308" y="662"/>
                    <a:pt x="3308" y="441"/>
                  </a:cubicBezTo>
                  <a:cubicBezTo>
                    <a:pt x="3340" y="189"/>
                    <a:pt x="3151" y="0"/>
                    <a:pt x="2899" y="0"/>
                  </a:cubicBezTo>
                  <a:close/>
                </a:path>
              </a:pathLst>
            </a:custGeom>
            <a:solidFill>
              <a:srgbClr val="003B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9590;p77"/>
            <p:cNvSpPr/>
            <p:nvPr/>
          </p:nvSpPr>
          <p:spPr>
            <a:xfrm>
              <a:off x="-59287350" y="2538900"/>
              <a:ext cx="82700" cy="22075"/>
            </a:xfrm>
            <a:custGeom>
              <a:avLst/>
              <a:gdLst/>
              <a:ahLst/>
              <a:cxnLst/>
              <a:rect l="l" t="t" r="r" b="b"/>
              <a:pathLst>
                <a:path w="3308" h="883" extrusionOk="0">
                  <a:moveTo>
                    <a:pt x="410" y="0"/>
                  </a:moveTo>
                  <a:cubicBezTo>
                    <a:pt x="189" y="0"/>
                    <a:pt x="0" y="221"/>
                    <a:pt x="0" y="441"/>
                  </a:cubicBezTo>
                  <a:cubicBezTo>
                    <a:pt x="0" y="662"/>
                    <a:pt x="189" y="882"/>
                    <a:pt x="410" y="882"/>
                  </a:cubicBezTo>
                  <a:lnTo>
                    <a:pt x="2899" y="882"/>
                  </a:lnTo>
                  <a:cubicBezTo>
                    <a:pt x="3151" y="882"/>
                    <a:pt x="3308" y="662"/>
                    <a:pt x="3308" y="441"/>
                  </a:cubicBezTo>
                  <a:cubicBezTo>
                    <a:pt x="3308" y="221"/>
                    <a:pt x="3151" y="0"/>
                    <a:pt x="2899" y="0"/>
                  </a:cubicBezTo>
                  <a:close/>
                </a:path>
              </a:pathLst>
            </a:custGeom>
            <a:solidFill>
              <a:srgbClr val="003B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9591;p77"/>
            <p:cNvSpPr/>
            <p:nvPr/>
          </p:nvSpPr>
          <p:spPr>
            <a:xfrm>
              <a:off x="-59439375" y="2425425"/>
              <a:ext cx="125250" cy="134750"/>
            </a:xfrm>
            <a:custGeom>
              <a:avLst/>
              <a:gdLst/>
              <a:ahLst/>
              <a:cxnLst/>
              <a:rect l="l" t="t" r="r" b="b"/>
              <a:pathLst>
                <a:path w="5010" h="5390" extrusionOk="0">
                  <a:moveTo>
                    <a:pt x="2518" y="855"/>
                  </a:moveTo>
                  <a:cubicBezTo>
                    <a:pt x="2722" y="855"/>
                    <a:pt x="2928" y="925"/>
                    <a:pt x="3088" y="1074"/>
                  </a:cubicBezTo>
                  <a:cubicBezTo>
                    <a:pt x="3277" y="1294"/>
                    <a:pt x="3340" y="1609"/>
                    <a:pt x="3277" y="1924"/>
                  </a:cubicBezTo>
                  <a:cubicBezTo>
                    <a:pt x="3183" y="2176"/>
                    <a:pt x="2994" y="2428"/>
                    <a:pt x="2710" y="2460"/>
                  </a:cubicBezTo>
                  <a:cubicBezTo>
                    <a:pt x="2626" y="2485"/>
                    <a:pt x="2546" y="2497"/>
                    <a:pt x="2469" y="2497"/>
                  </a:cubicBezTo>
                  <a:cubicBezTo>
                    <a:pt x="2260" y="2497"/>
                    <a:pt x="2076" y="2409"/>
                    <a:pt x="1891" y="2271"/>
                  </a:cubicBezTo>
                  <a:cubicBezTo>
                    <a:pt x="1702" y="2019"/>
                    <a:pt x="1607" y="1704"/>
                    <a:pt x="1702" y="1452"/>
                  </a:cubicBezTo>
                  <a:cubicBezTo>
                    <a:pt x="1802" y="1070"/>
                    <a:pt x="2158" y="855"/>
                    <a:pt x="2518" y="855"/>
                  </a:cubicBezTo>
                  <a:close/>
                  <a:moveTo>
                    <a:pt x="2521" y="3342"/>
                  </a:moveTo>
                  <a:cubicBezTo>
                    <a:pt x="3309" y="3342"/>
                    <a:pt x="3939" y="3846"/>
                    <a:pt x="4159" y="4539"/>
                  </a:cubicBezTo>
                  <a:lnTo>
                    <a:pt x="914" y="4539"/>
                  </a:lnTo>
                  <a:cubicBezTo>
                    <a:pt x="1103" y="3846"/>
                    <a:pt x="1733" y="3342"/>
                    <a:pt x="2521" y="3342"/>
                  </a:cubicBezTo>
                  <a:close/>
                  <a:moveTo>
                    <a:pt x="2473" y="0"/>
                  </a:moveTo>
                  <a:cubicBezTo>
                    <a:pt x="1781" y="0"/>
                    <a:pt x="1110" y="436"/>
                    <a:pt x="914" y="1200"/>
                  </a:cubicBezTo>
                  <a:cubicBezTo>
                    <a:pt x="757" y="1798"/>
                    <a:pt x="914" y="2334"/>
                    <a:pt x="1292" y="2775"/>
                  </a:cubicBezTo>
                  <a:cubicBezTo>
                    <a:pt x="568" y="3216"/>
                    <a:pt x="1" y="4004"/>
                    <a:pt x="1" y="4949"/>
                  </a:cubicBezTo>
                  <a:cubicBezTo>
                    <a:pt x="1" y="5169"/>
                    <a:pt x="190" y="5390"/>
                    <a:pt x="410" y="5390"/>
                  </a:cubicBezTo>
                  <a:lnTo>
                    <a:pt x="4537" y="5390"/>
                  </a:lnTo>
                  <a:cubicBezTo>
                    <a:pt x="4758" y="5390"/>
                    <a:pt x="4978" y="5169"/>
                    <a:pt x="4978" y="4949"/>
                  </a:cubicBezTo>
                  <a:cubicBezTo>
                    <a:pt x="5010" y="4035"/>
                    <a:pt x="4506" y="3216"/>
                    <a:pt x="3718" y="2807"/>
                  </a:cubicBezTo>
                  <a:cubicBezTo>
                    <a:pt x="3907" y="2618"/>
                    <a:pt x="4033" y="2397"/>
                    <a:pt x="4096" y="2113"/>
                  </a:cubicBezTo>
                  <a:cubicBezTo>
                    <a:pt x="4254" y="1515"/>
                    <a:pt x="4096" y="916"/>
                    <a:pt x="3655" y="507"/>
                  </a:cubicBezTo>
                  <a:cubicBezTo>
                    <a:pt x="3322" y="161"/>
                    <a:pt x="2894" y="0"/>
                    <a:pt x="2473" y="0"/>
                  </a:cubicBezTo>
                  <a:close/>
                </a:path>
              </a:pathLst>
            </a:custGeom>
            <a:solidFill>
              <a:srgbClr val="003B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9592;p77"/>
            <p:cNvSpPr/>
            <p:nvPr/>
          </p:nvSpPr>
          <p:spPr>
            <a:xfrm>
              <a:off x="-59327525" y="2325450"/>
              <a:ext cx="13400" cy="13425"/>
            </a:xfrm>
            <a:custGeom>
              <a:avLst/>
              <a:gdLst/>
              <a:ahLst/>
              <a:cxnLst/>
              <a:rect l="l" t="t" r="r" b="b"/>
              <a:pathLst>
                <a:path w="536" h="537" extrusionOk="0">
                  <a:moveTo>
                    <a:pt x="252" y="1"/>
                  </a:moveTo>
                  <a:cubicBezTo>
                    <a:pt x="95" y="1"/>
                    <a:pt x="0" y="127"/>
                    <a:pt x="0" y="284"/>
                  </a:cubicBezTo>
                  <a:cubicBezTo>
                    <a:pt x="0" y="442"/>
                    <a:pt x="95" y="536"/>
                    <a:pt x="252" y="536"/>
                  </a:cubicBezTo>
                  <a:cubicBezTo>
                    <a:pt x="410" y="536"/>
                    <a:pt x="536" y="442"/>
                    <a:pt x="536" y="284"/>
                  </a:cubicBezTo>
                  <a:cubicBezTo>
                    <a:pt x="536" y="127"/>
                    <a:pt x="410" y="1"/>
                    <a:pt x="252" y="1"/>
                  </a:cubicBezTo>
                  <a:close/>
                </a:path>
              </a:pathLst>
            </a:custGeom>
            <a:solidFill>
              <a:srgbClr val="003B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22" name="Google Shape;9576;p77"/>
          <p:cNvGrpSpPr/>
          <p:nvPr/>
        </p:nvGrpSpPr>
        <p:grpSpPr>
          <a:xfrm>
            <a:off x="4343400" y="1920240"/>
            <a:ext cx="457200" cy="449258"/>
            <a:chOff x="-60988625" y="2310475"/>
            <a:chExt cx="316650" cy="311150"/>
          </a:xfrm>
        </p:grpSpPr>
        <p:sp>
          <p:nvSpPr>
            <p:cNvPr id="5023" name="Google Shape;9577;p77"/>
            <p:cNvSpPr/>
            <p:nvPr/>
          </p:nvSpPr>
          <p:spPr>
            <a:xfrm>
              <a:off x="-60988625" y="2310475"/>
              <a:ext cx="311125" cy="311150"/>
            </a:xfrm>
            <a:custGeom>
              <a:avLst/>
              <a:gdLst/>
              <a:ahLst/>
              <a:cxnLst/>
              <a:rect l="l" t="t" r="r" b="b"/>
              <a:pathLst>
                <a:path w="12445" h="12446" extrusionOk="0">
                  <a:moveTo>
                    <a:pt x="7877" y="883"/>
                  </a:moveTo>
                  <a:cubicBezTo>
                    <a:pt x="8097" y="883"/>
                    <a:pt x="8318" y="1072"/>
                    <a:pt x="8318" y="1324"/>
                  </a:cubicBezTo>
                  <a:lnTo>
                    <a:pt x="8318" y="10398"/>
                  </a:lnTo>
                  <a:cubicBezTo>
                    <a:pt x="8318" y="10870"/>
                    <a:pt x="8444" y="11311"/>
                    <a:pt x="8727" y="11626"/>
                  </a:cubicBezTo>
                  <a:lnTo>
                    <a:pt x="2111" y="11626"/>
                  </a:lnTo>
                  <a:cubicBezTo>
                    <a:pt x="1450" y="11626"/>
                    <a:pt x="851" y="11091"/>
                    <a:pt x="851" y="10398"/>
                  </a:cubicBezTo>
                  <a:lnTo>
                    <a:pt x="851" y="1324"/>
                  </a:lnTo>
                  <a:lnTo>
                    <a:pt x="820" y="1324"/>
                  </a:lnTo>
                  <a:cubicBezTo>
                    <a:pt x="820" y="1072"/>
                    <a:pt x="1009" y="883"/>
                    <a:pt x="1261" y="883"/>
                  </a:cubicBezTo>
                  <a:close/>
                  <a:moveTo>
                    <a:pt x="11500" y="10807"/>
                  </a:moveTo>
                  <a:cubicBezTo>
                    <a:pt x="11342" y="11280"/>
                    <a:pt x="10870" y="11626"/>
                    <a:pt x="10303" y="11626"/>
                  </a:cubicBezTo>
                  <a:cubicBezTo>
                    <a:pt x="9767" y="11626"/>
                    <a:pt x="9326" y="11280"/>
                    <a:pt x="9137" y="10807"/>
                  </a:cubicBezTo>
                  <a:close/>
                  <a:moveTo>
                    <a:pt x="1261" y="1"/>
                  </a:moveTo>
                  <a:cubicBezTo>
                    <a:pt x="568" y="1"/>
                    <a:pt x="32" y="568"/>
                    <a:pt x="32" y="1230"/>
                  </a:cubicBezTo>
                  <a:lnTo>
                    <a:pt x="32" y="10334"/>
                  </a:lnTo>
                  <a:cubicBezTo>
                    <a:pt x="0" y="11563"/>
                    <a:pt x="946" y="12445"/>
                    <a:pt x="2080" y="12445"/>
                  </a:cubicBezTo>
                  <a:lnTo>
                    <a:pt x="10334" y="12445"/>
                  </a:lnTo>
                  <a:cubicBezTo>
                    <a:pt x="11500" y="12445"/>
                    <a:pt x="12445" y="11500"/>
                    <a:pt x="12445" y="10366"/>
                  </a:cubicBezTo>
                  <a:cubicBezTo>
                    <a:pt x="12445" y="10145"/>
                    <a:pt x="12224" y="9925"/>
                    <a:pt x="12004" y="9925"/>
                  </a:cubicBezTo>
                  <a:lnTo>
                    <a:pt x="9074" y="9925"/>
                  </a:lnTo>
                  <a:lnTo>
                    <a:pt x="9074" y="1230"/>
                  </a:lnTo>
                  <a:cubicBezTo>
                    <a:pt x="9074" y="568"/>
                    <a:pt x="8538" y="1"/>
                    <a:pt x="7877" y="1"/>
                  </a:cubicBezTo>
                  <a:close/>
                </a:path>
              </a:pathLst>
            </a:custGeom>
            <a:solidFill>
              <a:srgbClr val="003B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9578;p77"/>
            <p:cNvSpPr/>
            <p:nvPr/>
          </p:nvSpPr>
          <p:spPr>
            <a:xfrm>
              <a:off x="-60947675" y="2353025"/>
              <a:ext cx="145725" cy="20500"/>
            </a:xfrm>
            <a:custGeom>
              <a:avLst/>
              <a:gdLst/>
              <a:ahLst/>
              <a:cxnLst/>
              <a:rect l="l" t="t" r="r" b="b"/>
              <a:pathLst>
                <a:path w="5829" h="820" extrusionOk="0">
                  <a:moveTo>
                    <a:pt x="442" y="0"/>
                  </a:moveTo>
                  <a:cubicBezTo>
                    <a:pt x="190" y="0"/>
                    <a:pt x="1" y="189"/>
                    <a:pt x="1" y="441"/>
                  </a:cubicBezTo>
                  <a:cubicBezTo>
                    <a:pt x="1" y="630"/>
                    <a:pt x="190" y="819"/>
                    <a:pt x="442" y="819"/>
                  </a:cubicBezTo>
                  <a:lnTo>
                    <a:pt x="5388" y="819"/>
                  </a:lnTo>
                  <a:cubicBezTo>
                    <a:pt x="5640" y="819"/>
                    <a:pt x="5829" y="630"/>
                    <a:pt x="5829" y="441"/>
                  </a:cubicBezTo>
                  <a:cubicBezTo>
                    <a:pt x="5829" y="189"/>
                    <a:pt x="5640" y="0"/>
                    <a:pt x="5388" y="0"/>
                  </a:cubicBezTo>
                  <a:close/>
                </a:path>
              </a:pathLst>
            </a:custGeom>
            <a:solidFill>
              <a:srgbClr val="003B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9579;p77"/>
            <p:cNvSpPr/>
            <p:nvPr/>
          </p:nvSpPr>
          <p:spPr>
            <a:xfrm>
              <a:off x="-60947675" y="2415250"/>
              <a:ext cx="145725" cy="20500"/>
            </a:xfrm>
            <a:custGeom>
              <a:avLst/>
              <a:gdLst/>
              <a:ahLst/>
              <a:cxnLst/>
              <a:rect l="l" t="t" r="r" b="b"/>
              <a:pathLst>
                <a:path w="5829" h="820" extrusionOk="0">
                  <a:moveTo>
                    <a:pt x="442" y="0"/>
                  </a:moveTo>
                  <a:cubicBezTo>
                    <a:pt x="190" y="0"/>
                    <a:pt x="1" y="189"/>
                    <a:pt x="1" y="378"/>
                  </a:cubicBezTo>
                  <a:cubicBezTo>
                    <a:pt x="1" y="630"/>
                    <a:pt x="190" y="819"/>
                    <a:pt x="442" y="819"/>
                  </a:cubicBezTo>
                  <a:lnTo>
                    <a:pt x="5388" y="819"/>
                  </a:lnTo>
                  <a:cubicBezTo>
                    <a:pt x="5640" y="819"/>
                    <a:pt x="5829" y="630"/>
                    <a:pt x="5829" y="378"/>
                  </a:cubicBezTo>
                  <a:cubicBezTo>
                    <a:pt x="5829" y="158"/>
                    <a:pt x="5640" y="0"/>
                    <a:pt x="5388" y="0"/>
                  </a:cubicBezTo>
                  <a:close/>
                </a:path>
              </a:pathLst>
            </a:custGeom>
            <a:solidFill>
              <a:srgbClr val="003B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9580;p77"/>
            <p:cNvSpPr/>
            <p:nvPr/>
          </p:nvSpPr>
          <p:spPr>
            <a:xfrm>
              <a:off x="-60947675" y="2475875"/>
              <a:ext cx="145725" cy="22100"/>
            </a:xfrm>
            <a:custGeom>
              <a:avLst/>
              <a:gdLst/>
              <a:ahLst/>
              <a:cxnLst/>
              <a:rect l="l" t="t" r="r" b="b"/>
              <a:pathLst>
                <a:path w="5829" h="884" extrusionOk="0">
                  <a:moveTo>
                    <a:pt x="442" y="1"/>
                  </a:moveTo>
                  <a:cubicBezTo>
                    <a:pt x="190" y="1"/>
                    <a:pt x="1" y="221"/>
                    <a:pt x="1" y="442"/>
                  </a:cubicBezTo>
                  <a:cubicBezTo>
                    <a:pt x="1" y="694"/>
                    <a:pt x="190" y="883"/>
                    <a:pt x="442" y="883"/>
                  </a:cubicBezTo>
                  <a:lnTo>
                    <a:pt x="5388" y="883"/>
                  </a:lnTo>
                  <a:cubicBezTo>
                    <a:pt x="5640" y="883"/>
                    <a:pt x="5829" y="694"/>
                    <a:pt x="5829" y="442"/>
                  </a:cubicBezTo>
                  <a:cubicBezTo>
                    <a:pt x="5829" y="221"/>
                    <a:pt x="5640" y="1"/>
                    <a:pt x="5388" y="1"/>
                  </a:cubicBezTo>
                  <a:close/>
                </a:path>
              </a:pathLst>
            </a:custGeom>
            <a:solidFill>
              <a:srgbClr val="003B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9581;p77"/>
            <p:cNvSpPr/>
            <p:nvPr/>
          </p:nvSpPr>
          <p:spPr>
            <a:xfrm>
              <a:off x="-60947675" y="2538100"/>
              <a:ext cx="145725" cy="22075"/>
            </a:xfrm>
            <a:custGeom>
              <a:avLst/>
              <a:gdLst/>
              <a:ahLst/>
              <a:cxnLst/>
              <a:rect l="l" t="t" r="r" b="b"/>
              <a:pathLst>
                <a:path w="5829" h="883" extrusionOk="0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cubicBezTo>
                    <a:pt x="1" y="662"/>
                    <a:pt x="190" y="883"/>
                    <a:pt x="442" y="883"/>
                  </a:cubicBezTo>
                  <a:lnTo>
                    <a:pt x="5388" y="883"/>
                  </a:lnTo>
                  <a:cubicBezTo>
                    <a:pt x="5640" y="883"/>
                    <a:pt x="5829" y="662"/>
                    <a:pt x="5829" y="442"/>
                  </a:cubicBezTo>
                  <a:cubicBezTo>
                    <a:pt x="5829" y="190"/>
                    <a:pt x="5640" y="1"/>
                    <a:pt x="5388" y="1"/>
                  </a:cubicBezTo>
                  <a:close/>
                </a:path>
              </a:pathLst>
            </a:custGeom>
            <a:solidFill>
              <a:srgbClr val="003B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9582;p77"/>
            <p:cNvSpPr/>
            <p:nvPr/>
          </p:nvSpPr>
          <p:spPr>
            <a:xfrm>
              <a:off x="-60740525" y="2312050"/>
              <a:ext cx="68550" cy="233950"/>
            </a:xfrm>
            <a:custGeom>
              <a:avLst/>
              <a:gdLst/>
              <a:ahLst/>
              <a:cxnLst/>
              <a:rect l="l" t="t" r="r" b="b"/>
              <a:pathLst>
                <a:path w="2742" h="9358" extrusionOk="0">
                  <a:moveTo>
                    <a:pt x="1796" y="789"/>
                  </a:moveTo>
                  <a:cubicBezTo>
                    <a:pt x="1891" y="789"/>
                    <a:pt x="1922" y="852"/>
                    <a:pt x="1922" y="946"/>
                  </a:cubicBezTo>
                  <a:lnTo>
                    <a:pt x="1922" y="1639"/>
                  </a:lnTo>
                  <a:lnTo>
                    <a:pt x="820" y="1639"/>
                  </a:lnTo>
                  <a:lnTo>
                    <a:pt x="820" y="946"/>
                  </a:lnTo>
                  <a:cubicBezTo>
                    <a:pt x="820" y="852"/>
                    <a:pt x="883" y="789"/>
                    <a:pt x="977" y="789"/>
                  </a:cubicBezTo>
                  <a:close/>
                  <a:moveTo>
                    <a:pt x="1922" y="2458"/>
                  </a:moveTo>
                  <a:lnTo>
                    <a:pt x="1922" y="6617"/>
                  </a:lnTo>
                  <a:lnTo>
                    <a:pt x="820" y="6617"/>
                  </a:lnTo>
                  <a:lnTo>
                    <a:pt x="820" y="2458"/>
                  </a:lnTo>
                  <a:close/>
                  <a:moveTo>
                    <a:pt x="1639" y="7436"/>
                  </a:moveTo>
                  <a:lnTo>
                    <a:pt x="1355" y="8035"/>
                  </a:lnTo>
                  <a:lnTo>
                    <a:pt x="1040" y="7436"/>
                  </a:lnTo>
                  <a:close/>
                  <a:moveTo>
                    <a:pt x="977" y="1"/>
                  </a:moveTo>
                  <a:cubicBezTo>
                    <a:pt x="410" y="1"/>
                    <a:pt x="1" y="410"/>
                    <a:pt x="1" y="946"/>
                  </a:cubicBezTo>
                  <a:lnTo>
                    <a:pt x="1" y="6995"/>
                  </a:lnTo>
                  <a:cubicBezTo>
                    <a:pt x="1" y="7090"/>
                    <a:pt x="1" y="7121"/>
                    <a:pt x="32" y="7184"/>
                  </a:cubicBezTo>
                  <a:lnTo>
                    <a:pt x="1009" y="9137"/>
                  </a:lnTo>
                  <a:cubicBezTo>
                    <a:pt x="1103" y="9295"/>
                    <a:pt x="1198" y="9358"/>
                    <a:pt x="1355" y="9358"/>
                  </a:cubicBezTo>
                  <a:cubicBezTo>
                    <a:pt x="1513" y="9358"/>
                    <a:pt x="1670" y="9295"/>
                    <a:pt x="1733" y="9137"/>
                  </a:cubicBezTo>
                  <a:lnTo>
                    <a:pt x="2678" y="7184"/>
                  </a:lnTo>
                  <a:cubicBezTo>
                    <a:pt x="2710" y="7153"/>
                    <a:pt x="2710" y="7090"/>
                    <a:pt x="2710" y="6995"/>
                  </a:cubicBezTo>
                  <a:lnTo>
                    <a:pt x="2710" y="946"/>
                  </a:lnTo>
                  <a:cubicBezTo>
                    <a:pt x="2741" y="410"/>
                    <a:pt x="2300" y="1"/>
                    <a:pt x="1796" y="1"/>
                  </a:cubicBezTo>
                  <a:close/>
                </a:path>
              </a:pathLst>
            </a:custGeom>
            <a:solidFill>
              <a:srgbClr val="003B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29" name="Google Shape;8975;p75"/>
          <p:cNvGrpSpPr/>
          <p:nvPr/>
        </p:nvGrpSpPr>
        <p:grpSpPr>
          <a:xfrm>
            <a:off x="6995160" y="1920240"/>
            <a:ext cx="457200" cy="457200"/>
            <a:chOff x="6242825" y="238125"/>
            <a:chExt cx="483125" cy="483125"/>
          </a:xfrm>
        </p:grpSpPr>
        <p:sp>
          <p:nvSpPr>
            <p:cNvPr id="5030" name="Google Shape;8976;p75"/>
            <p:cNvSpPr/>
            <p:nvPr/>
          </p:nvSpPr>
          <p:spPr>
            <a:xfrm>
              <a:off x="6242825" y="238125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18192" y="1132"/>
                  </a:moveTo>
                  <a:lnTo>
                    <a:pt x="18192" y="2400"/>
                  </a:lnTo>
                  <a:cubicBezTo>
                    <a:pt x="17513" y="2639"/>
                    <a:pt x="17060" y="3282"/>
                    <a:pt x="17060" y="4001"/>
                  </a:cubicBezTo>
                  <a:cubicBezTo>
                    <a:pt x="17060" y="4719"/>
                    <a:pt x="17513" y="5363"/>
                    <a:pt x="18192" y="5601"/>
                  </a:cubicBezTo>
                  <a:lnTo>
                    <a:pt x="18192" y="8062"/>
                  </a:lnTo>
                  <a:cubicBezTo>
                    <a:pt x="17513" y="8300"/>
                    <a:pt x="17060" y="8944"/>
                    <a:pt x="17060" y="9662"/>
                  </a:cubicBezTo>
                  <a:cubicBezTo>
                    <a:pt x="17060" y="10381"/>
                    <a:pt x="17513" y="11024"/>
                    <a:pt x="18192" y="11263"/>
                  </a:cubicBezTo>
                  <a:lnTo>
                    <a:pt x="18192" y="13723"/>
                  </a:lnTo>
                  <a:cubicBezTo>
                    <a:pt x="17513" y="13962"/>
                    <a:pt x="17060" y="14605"/>
                    <a:pt x="17060" y="15324"/>
                  </a:cubicBezTo>
                  <a:cubicBezTo>
                    <a:pt x="17060" y="16042"/>
                    <a:pt x="17513" y="16685"/>
                    <a:pt x="18192" y="16924"/>
                  </a:cubicBezTo>
                  <a:lnTo>
                    <a:pt x="18192" y="18192"/>
                  </a:lnTo>
                  <a:lnTo>
                    <a:pt x="16924" y="18192"/>
                  </a:lnTo>
                  <a:cubicBezTo>
                    <a:pt x="16686" y="17513"/>
                    <a:pt x="16043" y="17060"/>
                    <a:pt x="15324" y="17060"/>
                  </a:cubicBezTo>
                  <a:cubicBezTo>
                    <a:pt x="14605" y="17060"/>
                    <a:pt x="13962" y="17513"/>
                    <a:pt x="13724" y="18192"/>
                  </a:cubicBezTo>
                  <a:lnTo>
                    <a:pt x="11263" y="18192"/>
                  </a:lnTo>
                  <a:cubicBezTo>
                    <a:pt x="11024" y="17513"/>
                    <a:pt x="10381" y="17060"/>
                    <a:pt x="9662" y="17060"/>
                  </a:cubicBezTo>
                  <a:cubicBezTo>
                    <a:pt x="8944" y="17060"/>
                    <a:pt x="8301" y="17513"/>
                    <a:pt x="8062" y="18192"/>
                  </a:cubicBezTo>
                  <a:lnTo>
                    <a:pt x="5601" y="18192"/>
                  </a:lnTo>
                  <a:cubicBezTo>
                    <a:pt x="5363" y="17513"/>
                    <a:pt x="4720" y="17060"/>
                    <a:pt x="4001" y="17060"/>
                  </a:cubicBezTo>
                  <a:cubicBezTo>
                    <a:pt x="3282" y="17060"/>
                    <a:pt x="2639" y="17513"/>
                    <a:pt x="2401" y="18192"/>
                  </a:cubicBezTo>
                  <a:lnTo>
                    <a:pt x="1133" y="18192"/>
                  </a:lnTo>
                  <a:lnTo>
                    <a:pt x="1133" y="16924"/>
                  </a:lnTo>
                  <a:cubicBezTo>
                    <a:pt x="1812" y="16685"/>
                    <a:pt x="2265" y="16042"/>
                    <a:pt x="2265" y="15324"/>
                  </a:cubicBezTo>
                  <a:cubicBezTo>
                    <a:pt x="2265" y="14605"/>
                    <a:pt x="1812" y="13962"/>
                    <a:pt x="1133" y="13723"/>
                  </a:cubicBezTo>
                  <a:lnTo>
                    <a:pt x="1133" y="11263"/>
                  </a:lnTo>
                  <a:cubicBezTo>
                    <a:pt x="1812" y="11024"/>
                    <a:pt x="2265" y="10381"/>
                    <a:pt x="2265" y="9662"/>
                  </a:cubicBezTo>
                  <a:cubicBezTo>
                    <a:pt x="2265" y="8944"/>
                    <a:pt x="1812" y="8300"/>
                    <a:pt x="1133" y="8062"/>
                  </a:cubicBezTo>
                  <a:lnTo>
                    <a:pt x="1133" y="5601"/>
                  </a:lnTo>
                  <a:cubicBezTo>
                    <a:pt x="1812" y="5363"/>
                    <a:pt x="2265" y="4719"/>
                    <a:pt x="2265" y="4001"/>
                  </a:cubicBezTo>
                  <a:cubicBezTo>
                    <a:pt x="2265" y="3282"/>
                    <a:pt x="1812" y="2639"/>
                    <a:pt x="1133" y="2400"/>
                  </a:cubicBezTo>
                  <a:lnTo>
                    <a:pt x="1133" y="1132"/>
                  </a:lnTo>
                  <a:lnTo>
                    <a:pt x="2401" y="1132"/>
                  </a:lnTo>
                  <a:cubicBezTo>
                    <a:pt x="2639" y="1812"/>
                    <a:pt x="3282" y="2265"/>
                    <a:pt x="4001" y="2265"/>
                  </a:cubicBezTo>
                  <a:cubicBezTo>
                    <a:pt x="4720" y="2265"/>
                    <a:pt x="5363" y="1812"/>
                    <a:pt x="5601" y="1132"/>
                  </a:cubicBezTo>
                  <a:lnTo>
                    <a:pt x="8062" y="1132"/>
                  </a:lnTo>
                  <a:cubicBezTo>
                    <a:pt x="8301" y="1812"/>
                    <a:pt x="8944" y="2265"/>
                    <a:pt x="9662" y="2265"/>
                  </a:cubicBezTo>
                  <a:cubicBezTo>
                    <a:pt x="10381" y="2265"/>
                    <a:pt x="11024" y="1812"/>
                    <a:pt x="11263" y="1132"/>
                  </a:cubicBezTo>
                  <a:lnTo>
                    <a:pt x="13724" y="1132"/>
                  </a:lnTo>
                  <a:cubicBezTo>
                    <a:pt x="13962" y="1812"/>
                    <a:pt x="14605" y="2265"/>
                    <a:pt x="15324" y="2265"/>
                  </a:cubicBezTo>
                  <a:cubicBezTo>
                    <a:pt x="16043" y="2265"/>
                    <a:pt x="16686" y="1812"/>
                    <a:pt x="16924" y="1132"/>
                  </a:cubicBezTo>
                  <a:close/>
                  <a:moveTo>
                    <a:pt x="568" y="0"/>
                  </a:moveTo>
                  <a:cubicBezTo>
                    <a:pt x="254" y="0"/>
                    <a:pt x="0" y="254"/>
                    <a:pt x="0" y="568"/>
                  </a:cubicBezTo>
                  <a:lnTo>
                    <a:pt x="0" y="2868"/>
                  </a:lnTo>
                  <a:cubicBezTo>
                    <a:pt x="0" y="3183"/>
                    <a:pt x="254" y="3436"/>
                    <a:pt x="568" y="3436"/>
                  </a:cubicBezTo>
                  <a:cubicBezTo>
                    <a:pt x="879" y="3436"/>
                    <a:pt x="1133" y="3687"/>
                    <a:pt x="1133" y="4001"/>
                  </a:cubicBezTo>
                  <a:cubicBezTo>
                    <a:pt x="1133" y="4315"/>
                    <a:pt x="879" y="4568"/>
                    <a:pt x="568" y="4568"/>
                  </a:cubicBezTo>
                  <a:cubicBezTo>
                    <a:pt x="254" y="4568"/>
                    <a:pt x="0" y="4819"/>
                    <a:pt x="0" y="5133"/>
                  </a:cubicBezTo>
                  <a:lnTo>
                    <a:pt x="0" y="8530"/>
                  </a:lnTo>
                  <a:cubicBezTo>
                    <a:pt x="0" y="8844"/>
                    <a:pt x="254" y="9098"/>
                    <a:pt x="568" y="9098"/>
                  </a:cubicBezTo>
                  <a:cubicBezTo>
                    <a:pt x="879" y="9098"/>
                    <a:pt x="1133" y="9348"/>
                    <a:pt x="1133" y="9662"/>
                  </a:cubicBezTo>
                  <a:cubicBezTo>
                    <a:pt x="1133" y="9976"/>
                    <a:pt x="879" y="10230"/>
                    <a:pt x="568" y="10230"/>
                  </a:cubicBezTo>
                  <a:cubicBezTo>
                    <a:pt x="254" y="10230"/>
                    <a:pt x="0" y="10481"/>
                    <a:pt x="0" y="10795"/>
                  </a:cubicBezTo>
                  <a:lnTo>
                    <a:pt x="0" y="14191"/>
                  </a:lnTo>
                  <a:cubicBezTo>
                    <a:pt x="0" y="14505"/>
                    <a:pt x="254" y="14759"/>
                    <a:pt x="568" y="14759"/>
                  </a:cubicBezTo>
                  <a:cubicBezTo>
                    <a:pt x="879" y="14759"/>
                    <a:pt x="1133" y="15010"/>
                    <a:pt x="1133" y="15324"/>
                  </a:cubicBezTo>
                  <a:cubicBezTo>
                    <a:pt x="1133" y="15638"/>
                    <a:pt x="879" y="15891"/>
                    <a:pt x="568" y="15891"/>
                  </a:cubicBezTo>
                  <a:cubicBezTo>
                    <a:pt x="254" y="15891"/>
                    <a:pt x="0" y="16142"/>
                    <a:pt x="0" y="16456"/>
                  </a:cubicBezTo>
                  <a:lnTo>
                    <a:pt x="0" y="18760"/>
                  </a:lnTo>
                  <a:cubicBezTo>
                    <a:pt x="0" y="19071"/>
                    <a:pt x="254" y="19324"/>
                    <a:pt x="568" y="19324"/>
                  </a:cubicBezTo>
                  <a:lnTo>
                    <a:pt x="2869" y="19324"/>
                  </a:lnTo>
                  <a:cubicBezTo>
                    <a:pt x="3183" y="19324"/>
                    <a:pt x="3436" y="19071"/>
                    <a:pt x="3436" y="18760"/>
                  </a:cubicBezTo>
                  <a:cubicBezTo>
                    <a:pt x="3436" y="18446"/>
                    <a:pt x="3687" y="18192"/>
                    <a:pt x="4001" y="18192"/>
                  </a:cubicBezTo>
                  <a:cubicBezTo>
                    <a:pt x="4315" y="18192"/>
                    <a:pt x="4569" y="18446"/>
                    <a:pt x="4569" y="18760"/>
                  </a:cubicBezTo>
                  <a:cubicBezTo>
                    <a:pt x="4569" y="19071"/>
                    <a:pt x="4819" y="19324"/>
                    <a:pt x="5133" y="19324"/>
                  </a:cubicBezTo>
                  <a:lnTo>
                    <a:pt x="8530" y="19324"/>
                  </a:lnTo>
                  <a:cubicBezTo>
                    <a:pt x="8844" y="19324"/>
                    <a:pt x="9098" y="19071"/>
                    <a:pt x="9098" y="18760"/>
                  </a:cubicBezTo>
                  <a:cubicBezTo>
                    <a:pt x="9098" y="18446"/>
                    <a:pt x="9348" y="18192"/>
                    <a:pt x="9662" y="18192"/>
                  </a:cubicBezTo>
                  <a:cubicBezTo>
                    <a:pt x="9976" y="18192"/>
                    <a:pt x="10230" y="18446"/>
                    <a:pt x="10230" y="18760"/>
                  </a:cubicBezTo>
                  <a:cubicBezTo>
                    <a:pt x="10230" y="19071"/>
                    <a:pt x="10481" y="19324"/>
                    <a:pt x="10795" y="19324"/>
                  </a:cubicBezTo>
                  <a:lnTo>
                    <a:pt x="14192" y="19324"/>
                  </a:lnTo>
                  <a:cubicBezTo>
                    <a:pt x="14506" y="19324"/>
                    <a:pt x="14759" y="19071"/>
                    <a:pt x="14759" y="18760"/>
                  </a:cubicBezTo>
                  <a:cubicBezTo>
                    <a:pt x="14759" y="18446"/>
                    <a:pt x="15010" y="18192"/>
                    <a:pt x="15324" y="18192"/>
                  </a:cubicBezTo>
                  <a:cubicBezTo>
                    <a:pt x="15638" y="18192"/>
                    <a:pt x="15892" y="18446"/>
                    <a:pt x="15892" y="18760"/>
                  </a:cubicBezTo>
                  <a:cubicBezTo>
                    <a:pt x="15892" y="19071"/>
                    <a:pt x="16142" y="19324"/>
                    <a:pt x="16456" y="19324"/>
                  </a:cubicBezTo>
                  <a:lnTo>
                    <a:pt x="18760" y="19324"/>
                  </a:lnTo>
                  <a:cubicBezTo>
                    <a:pt x="19071" y="19324"/>
                    <a:pt x="19325" y="19071"/>
                    <a:pt x="19325" y="18760"/>
                  </a:cubicBezTo>
                  <a:lnTo>
                    <a:pt x="19325" y="16456"/>
                  </a:lnTo>
                  <a:cubicBezTo>
                    <a:pt x="19325" y="16142"/>
                    <a:pt x="19071" y="15891"/>
                    <a:pt x="18760" y="15891"/>
                  </a:cubicBezTo>
                  <a:cubicBezTo>
                    <a:pt x="18446" y="15891"/>
                    <a:pt x="18192" y="15638"/>
                    <a:pt x="18192" y="15324"/>
                  </a:cubicBezTo>
                  <a:cubicBezTo>
                    <a:pt x="18192" y="15010"/>
                    <a:pt x="18446" y="14759"/>
                    <a:pt x="18760" y="14759"/>
                  </a:cubicBezTo>
                  <a:cubicBezTo>
                    <a:pt x="19071" y="14759"/>
                    <a:pt x="19325" y="14505"/>
                    <a:pt x="19325" y="14191"/>
                  </a:cubicBezTo>
                  <a:lnTo>
                    <a:pt x="19325" y="10795"/>
                  </a:lnTo>
                  <a:cubicBezTo>
                    <a:pt x="19325" y="10481"/>
                    <a:pt x="19071" y="10230"/>
                    <a:pt x="18760" y="10230"/>
                  </a:cubicBezTo>
                  <a:cubicBezTo>
                    <a:pt x="18446" y="10230"/>
                    <a:pt x="18192" y="9976"/>
                    <a:pt x="18192" y="9662"/>
                  </a:cubicBezTo>
                  <a:cubicBezTo>
                    <a:pt x="18192" y="9348"/>
                    <a:pt x="18446" y="9098"/>
                    <a:pt x="18760" y="9098"/>
                  </a:cubicBezTo>
                  <a:cubicBezTo>
                    <a:pt x="19071" y="9098"/>
                    <a:pt x="19325" y="8844"/>
                    <a:pt x="19325" y="8530"/>
                  </a:cubicBezTo>
                  <a:lnTo>
                    <a:pt x="19325" y="5133"/>
                  </a:lnTo>
                  <a:cubicBezTo>
                    <a:pt x="19325" y="4819"/>
                    <a:pt x="19071" y="4568"/>
                    <a:pt x="18760" y="4568"/>
                  </a:cubicBezTo>
                  <a:cubicBezTo>
                    <a:pt x="18446" y="4568"/>
                    <a:pt x="18192" y="4315"/>
                    <a:pt x="18192" y="4001"/>
                  </a:cubicBezTo>
                  <a:cubicBezTo>
                    <a:pt x="18192" y="3687"/>
                    <a:pt x="18446" y="3436"/>
                    <a:pt x="18760" y="3436"/>
                  </a:cubicBezTo>
                  <a:cubicBezTo>
                    <a:pt x="19071" y="3436"/>
                    <a:pt x="19325" y="3183"/>
                    <a:pt x="19325" y="2868"/>
                  </a:cubicBezTo>
                  <a:lnTo>
                    <a:pt x="19325" y="568"/>
                  </a:lnTo>
                  <a:cubicBezTo>
                    <a:pt x="19325" y="254"/>
                    <a:pt x="19071" y="0"/>
                    <a:pt x="18760" y="0"/>
                  </a:cubicBezTo>
                  <a:lnTo>
                    <a:pt x="16456" y="0"/>
                  </a:lnTo>
                  <a:cubicBezTo>
                    <a:pt x="16142" y="0"/>
                    <a:pt x="15892" y="254"/>
                    <a:pt x="15892" y="568"/>
                  </a:cubicBezTo>
                  <a:cubicBezTo>
                    <a:pt x="15892" y="879"/>
                    <a:pt x="15638" y="1132"/>
                    <a:pt x="15324" y="1132"/>
                  </a:cubicBezTo>
                  <a:cubicBezTo>
                    <a:pt x="15010" y="1132"/>
                    <a:pt x="14759" y="879"/>
                    <a:pt x="14759" y="568"/>
                  </a:cubicBezTo>
                  <a:cubicBezTo>
                    <a:pt x="14759" y="254"/>
                    <a:pt x="14506" y="0"/>
                    <a:pt x="14192" y="0"/>
                  </a:cubicBezTo>
                  <a:lnTo>
                    <a:pt x="10795" y="0"/>
                  </a:lnTo>
                  <a:cubicBezTo>
                    <a:pt x="10481" y="0"/>
                    <a:pt x="10230" y="254"/>
                    <a:pt x="10230" y="568"/>
                  </a:cubicBezTo>
                  <a:cubicBezTo>
                    <a:pt x="10230" y="879"/>
                    <a:pt x="9976" y="1132"/>
                    <a:pt x="9662" y="1132"/>
                  </a:cubicBezTo>
                  <a:cubicBezTo>
                    <a:pt x="9348" y="1132"/>
                    <a:pt x="9098" y="879"/>
                    <a:pt x="9098" y="568"/>
                  </a:cubicBezTo>
                  <a:cubicBezTo>
                    <a:pt x="9098" y="254"/>
                    <a:pt x="8844" y="0"/>
                    <a:pt x="8530" y="0"/>
                  </a:cubicBezTo>
                  <a:lnTo>
                    <a:pt x="5133" y="0"/>
                  </a:lnTo>
                  <a:cubicBezTo>
                    <a:pt x="4819" y="0"/>
                    <a:pt x="4569" y="254"/>
                    <a:pt x="4569" y="568"/>
                  </a:cubicBezTo>
                  <a:cubicBezTo>
                    <a:pt x="4569" y="879"/>
                    <a:pt x="4315" y="1132"/>
                    <a:pt x="4001" y="1132"/>
                  </a:cubicBezTo>
                  <a:cubicBezTo>
                    <a:pt x="3687" y="1132"/>
                    <a:pt x="3436" y="879"/>
                    <a:pt x="3436" y="568"/>
                  </a:cubicBezTo>
                  <a:cubicBezTo>
                    <a:pt x="3436" y="254"/>
                    <a:pt x="3183" y="0"/>
                    <a:pt x="2869" y="0"/>
                  </a:cubicBezTo>
                  <a:close/>
                </a:path>
              </a:pathLst>
            </a:custGeom>
            <a:solidFill>
              <a:srgbClr val="003B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3BA3"/>
                </a:solidFill>
              </a:endParaRPr>
            </a:p>
          </p:txBody>
        </p:sp>
        <p:sp>
          <p:nvSpPr>
            <p:cNvPr id="5031" name="Google Shape;8977;p75"/>
            <p:cNvSpPr/>
            <p:nvPr/>
          </p:nvSpPr>
          <p:spPr>
            <a:xfrm>
              <a:off x="6328725" y="324025"/>
              <a:ext cx="311400" cy="311400"/>
            </a:xfrm>
            <a:custGeom>
              <a:avLst/>
              <a:gdLst/>
              <a:ahLst/>
              <a:cxnLst/>
              <a:rect l="l" t="t" r="r" b="b"/>
              <a:pathLst>
                <a:path w="12456" h="12456" extrusionOk="0">
                  <a:moveTo>
                    <a:pt x="11323" y="1132"/>
                  </a:moveTo>
                  <a:lnTo>
                    <a:pt x="11323" y="5991"/>
                  </a:lnTo>
                  <a:lnTo>
                    <a:pt x="10025" y="4692"/>
                  </a:lnTo>
                  <a:cubicBezTo>
                    <a:pt x="9913" y="4582"/>
                    <a:pt x="9768" y="4527"/>
                    <a:pt x="9623" y="4527"/>
                  </a:cubicBezTo>
                  <a:cubicBezTo>
                    <a:pt x="9478" y="4527"/>
                    <a:pt x="9333" y="4582"/>
                    <a:pt x="9222" y="4692"/>
                  </a:cubicBezTo>
                  <a:lnTo>
                    <a:pt x="6498" y="7419"/>
                  </a:lnTo>
                  <a:lnTo>
                    <a:pt x="4303" y="5773"/>
                  </a:lnTo>
                  <a:cubicBezTo>
                    <a:pt x="4201" y="5698"/>
                    <a:pt x="4081" y="5661"/>
                    <a:pt x="3962" y="5661"/>
                  </a:cubicBezTo>
                  <a:cubicBezTo>
                    <a:pt x="3824" y="5661"/>
                    <a:pt x="3687" y="5711"/>
                    <a:pt x="3578" y="5810"/>
                  </a:cubicBezTo>
                  <a:lnTo>
                    <a:pt x="1133" y="8053"/>
                  </a:lnTo>
                  <a:lnTo>
                    <a:pt x="1133" y="1132"/>
                  </a:lnTo>
                  <a:close/>
                  <a:moveTo>
                    <a:pt x="4001" y="6960"/>
                  </a:moveTo>
                  <a:lnTo>
                    <a:pt x="5689" y="8228"/>
                  </a:lnTo>
                  <a:lnTo>
                    <a:pt x="2594" y="11323"/>
                  </a:lnTo>
                  <a:lnTo>
                    <a:pt x="1133" y="11323"/>
                  </a:lnTo>
                  <a:lnTo>
                    <a:pt x="1133" y="9590"/>
                  </a:lnTo>
                  <a:lnTo>
                    <a:pt x="4001" y="6960"/>
                  </a:lnTo>
                  <a:close/>
                  <a:moveTo>
                    <a:pt x="9623" y="5894"/>
                  </a:moveTo>
                  <a:lnTo>
                    <a:pt x="11323" y="7594"/>
                  </a:lnTo>
                  <a:lnTo>
                    <a:pt x="11323" y="11323"/>
                  </a:lnTo>
                  <a:lnTo>
                    <a:pt x="4197" y="11323"/>
                  </a:lnTo>
                  <a:lnTo>
                    <a:pt x="9623" y="5894"/>
                  </a:lnTo>
                  <a:close/>
                  <a:moveTo>
                    <a:pt x="565" y="0"/>
                  </a:moveTo>
                  <a:cubicBezTo>
                    <a:pt x="251" y="0"/>
                    <a:pt x="0" y="251"/>
                    <a:pt x="0" y="565"/>
                  </a:cubicBezTo>
                  <a:lnTo>
                    <a:pt x="0" y="11888"/>
                  </a:lnTo>
                  <a:cubicBezTo>
                    <a:pt x="0" y="12202"/>
                    <a:pt x="251" y="12455"/>
                    <a:pt x="565" y="12455"/>
                  </a:cubicBezTo>
                  <a:lnTo>
                    <a:pt x="11888" y="12455"/>
                  </a:lnTo>
                  <a:cubicBezTo>
                    <a:pt x="12202" y="12455"/>
                    <a:pt x="12456" y="12202"/>
                    <a:pt x="12456" y="11888"/>
                  </a:cubicBezTo>
                  <a:lnTo>
                    <a:pt x="12456" y="565"/>
                  </a:lnTo>
                  <a:cubicBezTo>
                    <a:pt x="12456" y="251"/>
                    <a:pt x="12202" y="0"/>
                    <a:pt x="11888" y="0"/>
                  </a:cubicBezTo>
                  <a:close/>
                </a:path>
              </a:pathLst>
            </a:custGeom>
            <a:solidFill>
              <a:srgbClr val="003B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3BA3"/>
                </a:solidFill>
              </a:endParaRPr>
            </a:p>
          </p:txBody>
        </p:sp>
        <p:sp>
          <p:nvSpPr>
            <p:cNvPr id="5032" name="Google Shape;8978;p75"/>
            <p:cNvSpPr/>
            <p:nvPr/>
          </p:nvSpPr>
          <p:spPr>
            <a:xfrm>
              <a:off x="6441950" y="380575"/>
              <a:ext cx="88275" cy="85000"/>
            </a:xfrm>
            <a:custGeom>
              <a:avLst/>
              <a:gdLst/>
              <a:ahLst/>
              <a:cxnLst/>
              <a:rect l="l" t="t" r="r" b="b"/>
              <a:pathLst>
                <a:path w="3531" h="3400" extrusionOk="0">
                  <a:moveTo>
                    <a:pt x="1697" y="1135"/>
                  </a:moveTo>
                  <a:cubicBezTo>
                    <a:pt x="2202" y="1135"/>
                    <a:pt x="2455" y="1742"/>
                    <a:pt x="2099" y="2101"/>
                  </a:cubicBezTo>
                  <a:cubicBezTo>
                    <a:pt x="1983" y="2216"/>
                    <a:pt x="1841" y="2268"/>
                    <a:pt x="1702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3" y="1135"/>
                    <a:pt x="1697" y="1135"/>
                  </a:cubicBezTo>
                  <a:close/>
                  <a:moveTo>
                    <a:pt x="1698" y="0"/>
                  </a:moveTo>
                  <a:cubicBezTo>
                    <a:pt x="1479" y="0"/>
                    <a:pt x="1258" y="43"/>
                    <a:pt x="1048" y="130"/>
                  </a:cubicBezTo>
                  <a:cubicBezTo>
                    <a:pt x="414" y="392"/>
                    <a:pt x="1" y="1011"/>
                    <a:pt x="1" y="1700"/>
                  </a:cubicBezTo>
                  <a:cubicBezTo>
                    <a:pt x="1" y="2639"/>
                    <a:pt x="758" y="3397"/>
                    <a:pt x="1697" y="3400"/>
                  </a:cubicBezTo>
                  <a:cubicBezTo>
                    <a:pt x="2386" y="3400"/>
                    <a:pt x="3005" y="2983"/>
                    <a:pt x="3268" y="2349"/>
                  </a:cubicBezTo>
                  <a:cubicBezTo>
                    <a:pt x="3530" y="1715"/>
                    <a:pt x="3385" y="984"/>
                    <a:pt x="2899" y="498"/>
                  </a:cubicBezTo>
                  <a:cubicBezTo>
                    <a:pt x="2574" y="173"/>
                    <a:pt x="2139" y="0"/>
                    <a:pt x="1698" y="0"/>
                  </a:cubicBezTo>
                  <a:close/>
                </a:path>
              </a:pathLst>
            </a:custGeom>
            <a:solidFill>
              <a:srgbClr val="003B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3BA3"/>
                </a:solidFill>
              </a:endParaRPr>
            </a:p>
          </p:txBody>
        </p:sp>
      </p:grpSp>
      <p:sp>
        <p:nvSpPr>
          <p:cNvPr id="5033" name="TextBox 5032"/>
          <p:cNvSpPr txBox="1"/>
          <p:nvPr/>
        </p:nvSpPr>
        <p:spPr>
          <a:xfrm>
            <a:off x="822960" y="3886200"/>
            <a:ext cx="7498079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050" b="0" i="0" dirty="0">
                <a:solidFill>
                  <a:srgbClr val="000000"/>
                </a:solidFill>
                <a:latin typeface="Arial"/>
              </a:rPr>
              <a:t>The extensions of them with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: </a:t>
            </a:r>
            <a:r>
              <a:rPr sz="1050" b="1" i="0" dirty="0">
                <a:solidFill>
                  <a:srgbClr val="003BA3"/>
                </a:solidFill>
                <a:latin typeface="Arial"/>
              </a:rPr>
              <a:t>constraints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· </a:t>
            </a:r>
            <a:r>
              <a:rPr sz="1050" b="1" i="0" dirty="0">
                <a:solidFill>
                  <a:srgbClr val="003BA3"/>
                </a:solidFill>
                <a:latin typeface="Arial"/>
              </a:rPr>
              <a:t>the pictogram image</a:t>
            </a:r>
            <a:r>
              <a:rPr sz="1050" b="0" i="0" dirty="0">
                <a:solidFill>
                  <a:srgbClr val="000000"/>
                </a:solidFill>
                <a:latin typeface="Arial"/>
              </a:rPr>
              <a:t> · </a:t>
            </a:r>
            <a:r>
              <a:rPr sz="1050" b="1" i="0" dirty="0">
                <a:solidFill>
                  <a:srgbClr val="003BA3"/>
                </a:solidFill>
                <a:latin typeface="Arial"/>
              </a:rPr>
              <a:t>three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566928"/>
            <a:ext cx="7589520" cy="566928"/>
          </a:xfrm>
        </p:spPr>
        <p:txBody>
          <a:bodyPr/>
          <a:lstStyle/>
          <a:p>
            <a:r>
              <a:rPr sz="2600" dirty="0"/>
              <a:t>The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474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A8CFF"/>
                </a:solidFill>
                <a:latin typeface="Arial"/>
              </a:rPr>
              <a:t>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801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03BA3"/>
                </a:solidFill>
                <a:latin typeface="Arial"/>
              </a:rPr>
              <a:t>At every step the model sees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645920"/>
            <a:ext cx="33832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the pictograms chosen so far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a pool of 8 candidates</a:t>
            </a:r>
            <a:r>
              <a:rPr sz="1100" b="0" i="0">
                <a:solidFill>
                  <a:srgbClr val="000000"/>
                </a:solidFill>
                <a:latin typeface="Arial"/>
              </a:rPr>
              <a:t> with their ids and descriptions (id, text)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5146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3BA3"/>
                </a:solidFill>
                <a:latin typeface="Arial"/>
              </a:rPr>
              <a:t>54,797 sentences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898648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12,000 / 1,500 / 2,000 for train / val / test; one decision per pictogram: 50,358 for training, 8,467 for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4747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4A8CFF"/>
                </a:solidFill>
                <a:latin typeface="Arial"/>
              </a:rPr>
              <a:t>681 of 5,014 have no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858768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>
                <a:solidFill>
                  <a:srgbClr val="000000"/>
                </a:solidFill>
                <a:latin typeface="Arial"/>
              </a:rPr>
              <a:t>pictograms with no description at 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28016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03BA3"/>
                </a:solidFill>
                <a:latin typeface="Arial"/>
              </a:rPr>
              <a:t>How the 8 candidates are built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645920"/>
            <a:ext cx="3886200" cy="713232"/>
          </a:xfrm>
          <a:prstGeom prst="roundRect">
            <a:avLst>
              <a:gd name="adj" fmla="val 8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1719072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3BA3"/>
                </a:solidFill>
                <a:latin typeface="Arial"/>
              </a:rPr>
              <a:t>Pictograms the sentence still needs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the right one and the later ones (2.8 on average)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37744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003BA3"/>
                </a:solidFill>
                <a:latin typeface="Arial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670048"/>
            <a:ext cx="3886200" cy="713232"/>
          </a:xfrm>
          <a:prstGeom prst="roundRect">
            <a:avLst>
              <a:gd name="adj" fmla="val 8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81728" y="2743200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3BA3"/>
                </a:solidFill>
                <a:latin typeface="Arial"/>
              </a:rPr>
              <a:t>Distractors retrieved with TF-IDF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closest descriptions to the sentence, out of 12,464 (5.2 on average)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340156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003BA3"/>
                </a:solidFill>
                <a:latin typeface="Arial"/>
              </a:rPr>
              <a:t>=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703320"/>
            <a:ext cx="3886200" cy="457200"/>
          </a:xfrm>
          <a:prstGeom prst="roundRect">
            <a:avLst>
              <a:gd name="adj" fmla="val 8000"/>
            </a:avLst>
          </a:prstGeom>
          <a:solidFill>
            <a:srgbClr val="003B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81728" y="3703320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8 candidates, shuffled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566928"/>
            <a:ext cx="7589520" cy="566928"/>
          </a:xfrm>
        </p:spPr>
        <p:txBody>
          <a:bodyPr/>
          <a:lstStyle/>
          <a:p>
            <a:r>
              <a:rPr sz="2600"/>
              <a:t>What the model sees, and how it is scored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474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A8CFF"/>
                </a:solidFill>
                <a:latin typeface="Arial"/>
              </a:rPr>
              <a:t>ONE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280160"/>
            <a:ext cx="3977639" cy="2788920"/>
          </a:xfrm>
          <a:prstGeom prst="roundRect">
            <a:avLst>
              <a:gd name="adj" fmla="val 8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3749039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000000"/>
                </a:solidFill>
                <a:latin typeface="Courier New"/>
              </a:rPr>
              <a:t>Selected: </a:t>
            </a:r>
            <a:r>
              <a:rPr sz="950" b="0" i="0">
                <a:solidFill>
                  <a:srgbClr val="000000"/>
                </a:solidFill>
                <a:latin typeface="Courier New"/>
              </a:rPr>
              <a:t>strawberry (fruit) | heart (shape)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000000"/>
                </a:solidFill>
                <a:latin typeface="Courier New"/>
              </a:rPr>
              <a:t>Candidates: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Courier New"/>
              </a:rPr>
              <a:t> 4763 triangle (shape)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Courier New"/>
              </a:rPr>
              <a:t> 2715 heart (human anatomy)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Courier New"/>
              </a:rPr>
              <a:t> 2470 jam, strawberry jam (food)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003BA3"/>
                </a:solidFill>
                <a:latin typeface="Courier New"/>
              </a:rPr>
              <a:t>11178 love, sweetheart (feeling)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Courier New"/>
              </a:rPr>
              <a:t>37733 spiral (shape)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Courier New"/>
              </a:rPr>
              <a:t> 5490 heart attack (disease)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Courier New"/>
              </a:rPr>
              <a:t> 4644 star (shape)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Courier New"/>
              </a:rPr>
              <a:t> 4761 trapezoid (shape)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000000"/>
                </a:solidFill>
                <a:latin typeface="Courier New"/>
              </a:rPr>
              <a:t>Next: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8C8C8C"/>
                </a:solidFill>
                <a:latin typeface="Arial"/>
              </a:rPr>
              <a:t>the message: strawberry → heart → </a:t>
            </a:r>
            <a:r>
              <a:rPr sz="850" b="1" i="0">
                <a:solidFill>
                  <a:srgbClr val="003BA3"/>
                </a:solidFill>
                <a:latin typeface="Arial"/>
              </a:rPr>
              <a:t>love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280160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03BA3"/>
                </a:solidFill>
                <a:latin typeface="Arial"/>
              </a:rPr>
              <a:t>Each mode answers in its own format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572768"/>
            <a:ext cx="3337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id </a:t>
            </a:r>
            <a:r>
              <a:rPr sz="1000" b="0" i="0">
                <a:solidFill>
                  <a:srgbClr val="003BA3"/>
                </a:solidFill>
                <a:latin typeface="Courier New"/>
              </a:rPr>
              <a:t>11178    </a:t>
            </a:r>
            <a:r>
              <a:rPr sz="1000" b="1" i="0">
                <a:solidFill>
                  <a:srgbClr val="000000"/>
                </a:solidFill>
                <a:latin typeface="Arial"/>
              </a:rPr>
              <a:t>text </a:t>
            </a:r>
            <a:r>
              <a:rPr sz="1000" b="0" i="0">
                <a:solidFill>
                  <a:srgbClr val="003BA3"/>
                </a:solidFill>
                <a:latin typeface="Courier New"/>
              </a:rPr>
              <a:t>love, sweetheart</a:t>
            </a:r>
          </a:p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picto </a:t>
            </a:r>
            <a:r>
              <a:rPr sz="1000" b="0" i="0">
                <a:solidFill>
                  <a:srgbClr val="003BA3"/>
                </a:solidFill>
                <a:latin typeface="Courier New"/>
              </a:rPr>
              <a:t>[PICTO_11178]</a:t>
            </a:r>
            <a:r>
              <a:rPr sz="1000" b="0" i="0">
                <a:solidFill>
                  <a:srgbClr val="8C8C8C"/>
                </a:solidFill>
                <a:latin typeface="Arial"/>
              </a:rPr>
              <a:t>  sees only Selected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267712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03BA3"/>
                </a:solidFill>
                <a:latin typeface="Arial"/>
              </a:rPr>
              <a:t>The 8 candidates are ranked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2560320"/>
            <a:ext cx="3337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by the probability the fine-tuned model gives to each one's answer: same pool, same code for the three modes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3255264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03BA3"/>
                </a:solidFill>
                <a:latin typeface="Arial"/>
              </a:rPr>
              <a:t>Here, all three are right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3547872"/>
            <a:ext cx="3337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love comes first for id, text and picto, ahead of look-alikes such as heart (anatomy) and heart attack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566928"/>
            <a:ext cx="7589520" cy="566928"/>
          </a:xfrm>
        </p:spPr>
        <p:txBody>
          <a:bodyPr/>
          <a:lstStyle/>
          <a:p>
            <a:r>
              <a:rPr sz="2600"/>
              <a:t>One recipe, two kinds of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474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A8CFF"/>
                </a:solidFill>
                <a:latin typeface="Arial"/>
              </a:rPr>
              <a:t>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280160"/>
            <a:ext cx="1097280" cy="868680"/>
          </a:xfrm>
          <a:prstGeom prst="rect">
            <a:avLst/>
          </a:prstGeom>
          <a:solidFill>
            <a:srgbClr val="003B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280160"/>
            <a:ext cx="10972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1280160"/>
            <a:ext cx="2286000" cy="86868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25130" y="1363414"/>
            <a:ext cx="2130552" cy="6924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it-IT" sz="900" dirty="0"/>
              <a:t>· </a:t>
            </a:r>
            <a:r>
              <a:rPr sz="900" b="0" i="0" dirty="0">
                <a:solidFill>
                  <a:srgbClr val="000000"/>
                </a:solidFill>
                <a:latin typeface="Arial"/>
              </a:rPr>
              <a:t>Qwen3.5-2B</a:t>
            </a:r>
            <a:endParaRPr lang="en-US" sz="900" b="0" i="0" dirty="0">
              <a:solidFill>
                <a:srgbClr val="000000"/>
              </a:solidFill>
              <a:latin typeface="Arial"/>
            </a:endParaRPr>
          </a:p>
          <a:p>
            <a:pPr algn="l"/>
            <a:endParaRPr lang="en-US" sz="900" b="0" i="0" dirty="0">
              <a:solidFill>
                <a:srgbClr val="000000"/>
              </a:solidFill>
              <a:latin typeface="Arial"/>
            </a:endParaRPr>
          </a:p>
          <a:p>
            <a:r>
              <a:rPr lang="it-IT" sz="900" dirty="0"/>
              <a:t>· Qwen3.5-0.8B</a:t>
            </a:r>
            <a:endParaRPr lang="en-US" sz="900" b="0" i="0" dirty="0">
              <a:solidFill>
                <a:srgbClr val="000000"/>
              </a:solidFill>
              <a:latin typeface="Arial"/>
            </a:endParaRPr>
          </a:p>
          <a:p>
            <a:pPr algn="l"/>
            <a:endParaRPr lang="en-US" sz="900" dirty="0"/>
          </a:p>
          <a:p>
            <a:r>
              <a:rPr lang="it-IT" sz="900" dirty="0"/>
              <a:t>· </a:t>
            </a:r>
            <a:r>
              <a:rPr sz="900" b="0" i="0" dirty="0">
                <a:solidFill>
                  <a:srgbClr val="000000"/>
                </a:solidFill>
                <a:latin typeface="Arial"/>
              </a:rPr>
              <a:t>LFM2.5-350M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267712"/>
            <a:ext cx="1097280" cy="868680"/>
          </a:xfrm>
          <a:prstGeom prst="rect">
            <a:avLst/>
          </a:prstGeom>
          <a:solidFill>
            <a:srgbClr val="003B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267712"/>
            <a:ext cx="10972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Training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8528" y="2267712"/>
            <a:ext cx="2286000" cy="86868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29968" y="2494303"/>
            <a:ext cx="2130552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dirty="0" err="1">
                <a:solidFill>
                  <a:srgbClr val="000000"/>
                </a:solidFill>
                <a:latin typeface="Arial"/>
              </a:rPr>
              <a:t>QLoRA</a:t>
            </a:r>
            <a:r>
              <a:rPr sz="900" b="0" i="0" dirty="0">
                <a:solidFill>
                  <a:srgbClr val="000000"/>
                </a:solidFill>
                <a:latin typeface="Arial"/>
              </a:rPr>
              <a:t>: 4-bit base + </a:t>
            </a:r>
            <a:r>
              <a:rPr sz="900" b="0" i="0" dirty="0" err="1">
                <a:solidFill>
                  <a:srgbClr val="000000"/>
                </a:solidFill>
                <a:latin typeface="Arial"/>
              </a:rPr>
              <a:t>LoRA</a:t>
            </a:r>
            <a:r>
              <a:rPr sz="900" b="0" i="0" dirty="0">
                <a:solidFill>
                  <a:srgbClr val="000000"/>
                </a:solidFill>
                <a:latin typeface="Arial"/>
              </a:rPr>
              <a:t> r=16 on every attention block; loss on the answer only; batch 16, 1 epoch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3255264"/>
            <a:ext cx="1097280" cy="868680"/>
          </a:xfrm>
          <a:prstGeom prst="rect">
            <a:avLst/>
          </a:prstGeom>
          <a:solidFill>
            <a:srgbClr val="003B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3255264"/>
            <a:ext cx="10972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Baselines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38528" y="3255264"/>
            <a:ext cx="2286000" cy="86868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29968" y="3343356"/>
            <a:ext cx="2130552" cy="6924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it-IT" sz="900" dirty="0"/>
              <a:t>· </a:t>
            </a:r>
            <a:r>
              <a:rPr sz="900" b="0" i="0" dirty="0">
                <a:solidFill>
                  <a:srgbClr val="000000"/>
                </a:solidFill>
                <a:latin typeface="Arial"/>
              </a:rPr>
              <a:t>random</a:t>
            </a:r>
            <a:endParaRPr lang="en-US" sz="900" b="0" i="0" dirty="0">
              <a:solidFill>
                <a:srgbClr val="000000"/>
              </a:solidFill>
              <a:latin typeface="Arial"/>
            </a:endParaRPr>
          </a:p>
          <a:p>
            <a:endParaRPr lang="en-US" sz="900" b="0" i="0" dirty="0">
              <a:solidFill>
                <a:srgbClr val="000000"/>
              </a:solidFill>
              <a:latin typeface="Arial"/>
            </a:endParaRPr>
          </a:p>
          <a:p>
            <a:r>
              <a:rPr sz="900" b="0" i="0" dirty="0">
                <a:solidFill>
                  <a:srgbClr val="000000"/>
                </a:solidFill>
                <a:latin typeface="Arial"/>
              </a:rPr>
              <a:t>· frequency</a:t>
            </a:r>
            <a:endParaRPr lang="en-US" sz="900" b="0" i="0" dirty="0">
              <a:solidFill>
                <a:srgbClr val="000000"/>
              </a:solidFill>
              <a:latin typeface="Arial"/>
            </a:endParaRPr>
          </a:p>
          <a:p>
            <a:endParaRPr lang="en-US" sz="900" b="0" i="0" dirty="0">
              <a:solidFill>
                <a:srgbClr val="000000"/>
              </a:solidFill>
              <a:latin typeface="Arial"/>
            </a:endParaRPr>
          </a:p>
          <a:p>
            <a:r>
              <a:rPr sz="900" b="0" i="0" dirty="0">
                <a:solidFill>
                  <a:srgbClr val="000000"/>
                </a:solidFill>
                <a:latin typeface="Arial"/>
              </a:rPr>
              <a:t>· n-gram with back-off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28016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03BA3"/>
                </a:solidFill>
                <a:latin typeface="Arial"/>
              </a:rPr>
              <a:t>Metrics, on 8,467 test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664208"/>
            <a:ext cx="393192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003BA3"/>
                </a:solidFill>
                <a:latin typeface="Arial"/>
              </a:rPr>
              <a:t>Hit@3 </a:t>
            </a:r>
            <a:r>
              <a:rPr sz="1000" b="0" i="0">
                <a:solidFill>
                  <a:srgbClr val="000000"/>
                </a:solidFill>
                <a:latin typeface="Arial"/>
              </a:rPr>
              <a:t>the main number: the right pictogram among the first 3 of the 8, as on a screen with 3 suggestions; also Hit@1 and Hit@5</a:t>
            </a:r>
          </a:p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003BA3"/>
                </a:solidFill>
                <a:latin typeface="Arial"/>
              </a:rPr>
              <a:t>all@k </a:t>
            </a:r>
            <a:r>
              <a:rPr sz="1000" b="0" i="0">
                <a:solidFill>
                  <a:srgbClr val="000000"/>
                </a:solidFill>
                <a:latin typeface="Arial"/>
              </a:rPr>
              <a:t>the same over all 5,014 pictograms, picto only: a keyboard showing 5-10 suggestions</a:t>
            </a:r>
          </a:p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003BA3"/>
                </a:solidFill>
                <a:latin typeface="Arial"/>
              </a:rPr>
              <a:t>MRR </a:t>
            </a:r>
            <a:r>
              <a:rPr sz="1000" b="0" i="0">
                <a:solidFill>
                  <a:srgbClr val="000000"/>
                </a:solidFill>
                <a:latin typeface="Arial"/>
              </a:rPr>
              <a:t>mean of 1 / rank of the right one</a:t>
            </a:r>
          </a:p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003BA3"/>
                </a:solidFill>
                <a:latin typeface="Arial"/>
              </a:rPr>
              <a:t>strict / relaxed </a:t>
            </a:r>
            <a:r>
              <a:rPr sz="1000" b="0" i="0">
                <a:solidFill>
                  <a:srgbClr val="000000"/>
                </a:solidFill>
                <a:latin typeface="Arial"/>
              </a:rPr>
              <a:t>relaxed also accepts a pictogram with the same keyword (the second apple)</a:t>
            </a:r>
          </a:p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003BA3"/>
                </a:solidFill>
                <a:latin typeface="Arial"/>
              </a:rPr>
              <a:t>± 95 % Wilson interval </a:t>
            </a:r>
            <a:r>
              <a:rPr sz="1000" b="0" i="0">
                <a:solidFill>
                  <a:srgbClr val="000000"/>
                </a:solidFill>
                <a:latin typeface="Arial"/>
              </a:rPr>
              <a:t>at most ±0.011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566928"/>
            <a:ext cx="7589520" cy="566928"/>
          </a:xfrm>
        </p:spPr>
        <p:txBody>
          <a:bodyPr/>
          <a:lstStyle/>
          <a:p>
            <a:r>
              <a:rPr sz="2600"/>
              <a:t>Baselines see what picto sees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474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A8CFF"/>
                </a:solidFill>
                <a:latin typeface="Arial"/>
              </a:rPr>
              <a:t>BASELINES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280160"/>
            <a:ext cx="2423160" cy="457200"/>
          </a:xfrm>
          <a:prstGeom prst="rect">
            <a:avLst/>
          </a:prstGeom>
          <a:solidFill>
            <a:srgbClr val="003B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28016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random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737360"/>
            <a:ext cx="2423160" cy="100584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737360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picks one of the 8 candidates at random</a:t>
            </a:r>
          </a:p>
        </p:txBody>
      </p:sp>
      <p:sp>
        <p:nvSpPr>
          <p:cNvPr id="8" name="Rectangle 7"/>
          <p:cNvSpPr/>
          <p:nvPr/>
        </p:nvSpPr>
        <p:spPr>
          <a:xfrm>
            <a:off x="3447288" y="1280160"/>
            <a:ext cx="2423160" cy="457200"/>
          </a:xfrm>
          <a:prstGeom prst="rect">
            <a:avLst/>
          </a:prstGeom>
          <a:solidFill>
            <a:srgbClr val="003B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47288" y="128016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frequency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7288" y="1737360"/>
            <a:ext cx="2423160" cy="100584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84448" y="1737360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picks the candidate chosen most often in the 12,000 training sentences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3328" y="1280160"/>
            <a:ext cx="2423160" cy="457200"/>
          </a:xfrm>
          <a:prstGeom prst="rect">
            <a:avLst/>
          </a:prstGeom>
          <a:solidFill>
            <a:srgbClr val="003B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53328" y="128016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n-gram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53328" y="1737360"/>
            <a:ext cx="2423160" cy="100584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0488" y="1932503"/>
            <a:ext cx="214884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 dirty="0">
                <a:solidFill>
                  <a:srgbClr val="000000"/>
                </a:solidFill>
                <a:latin typeface="Arial"/>
              </a:rPr>
              <a:t>looks at the last</a:t>
            </a:r>
            <a:r>
              <a:rPr lang="it-IT" sz="1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000" b="0" i="0" dirty="0">
                <a:solidFill>
                  <a:srgbClr val="000000"/>
                </a:solidFill>
                <a:latin typeface="Arial"/>
              </a:rPr>
              <a:t>pictograms chosen and picks what followed them most often in training; a shorter context if unseen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017520"/>
            <a:ext cx="3977639" cy="914400"/>
          </a:xfrm>
          <a:prstGeom prst="roundRect">
            <a:avLst>
              <a:gd name="adj" fmla="val 8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108960"/>
            <a:ext cx="3657600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000" b="1" i="0" dirty="0">
                <a:solidFill>
                  <a:srgbClr val="003BA3"/>
                </a:solidFill>
                <a:latin typeface="Arial"/>
              </a:rPr>
              <a:t>Example</a:t>
            </a:r>
            <a:endParaRPr sz="1000" b="1" i="0" dirty="0">
              <a:solidFill>
                <a:srgbClr val="003BA3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000" b="0" i="0" dirty="0">
                <a:solidFill>
                  <a:srgbClr val="000000"/>
                </a:solidFill>
                <a:latin typeface="Arial"/>
              </a:rPr>
              <a:t>after heart, the training sentences continue with love 20 times out of 55: the n-gram picks love too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108960"/>
            <a:ext cx="3383280" cy="56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 dirty="0">
                <a:solidFill>
                  <a:srgbClr val="003BA3"/>
                </a:solidFill>
                <a:latin typeface="Arial"/>
              </a:rPr>
              <a:t>Fair: </a:t>
            </a:r>
            <a:r>
              <a:rPr sz="1000" b="0" i="0" dirty="0">
                <a:solidFill>
                  <a:srgbClr val="000000"/>
                </a:solidFill>
                <a:latin typeface="Arial"/>
              </a:rPr>
              <a:t>the same 8 candidates and the pictograms chosen so far, counted on the training sentences only</a:t>
            </a:r>
          </a:p>
          <a:p>
            <a:pPr algn="l">
              <a:spcAft>
                <a:spcPts val="800"/>
              </a:spcAft>
            </a:pPr>
            <a:r>
              <a:rPr sz="1000" b="1" i="0" dirty="0">
                <a:solidFill>
                  <a:srgbClr val="003BA3"/>
                </a:solidFill>
                <a:latin typeface="Arial"/>
              </a:rPr>
              <a:t>Never sees </a:t>
            </a:r>
            <a:r>
              <a:rPr sz="1000" b="0" i="0" dirty="0">
                <a:solidFill>
                  <a:srgbClr val="000000"/>
                </a:solidFill>
                <a:latin typeface="Arial"/>
              </a:rPr>
              <a:t>the descriptions or the test sentences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566928"/>
            <a:ext cx="7589520" cy="566928"/>
          </a:xfrm>
        </p:spPr>
        <p:txBody>
          <a:bodyPr/>
          <a:lstStyle/>
          <a:p>
            <a:r>
              <a:rPr sz="2600"/>
              <a:t>id wins; picto only matches the n-gram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3832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A8CFF"/>
                </a:solidFill>
                <a:latin typeface="Arial"/>
              </a:rPr>
              <a:t>MAIN RESULT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41248" y="1280160"/>
          <a:ext cx="448147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2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2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2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8C8C8C"/>
                          </a:solidFill>
                          <a:latin typeface="Arial"/>
                        </a:rPr>
                        <a:t>Hit@3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8C8C8C"/>
                          </a:solidFill>
                          <a:latin typeface="Arial"/>
                        </a:rPr>
                        <a:t>LFM2.5-350M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8C8C8C"/>
                          </a:solidFill>
                          <a:latin typeface="Arial"/>
                        </a:rPr>
                        <a:t>Qwen3.5-0.8B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8C8C8C"/>
                          </a:solidFill>
                          <a:latin typeface="Arial"/>
                        </a:rPr>
                        <a:t>Qwen3.5-2B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3BA3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0.799</a:t>
                      </a:r>
                    </a:p>
                  </a:txBody>
                  <a:tcPr anchor="ctr">
                    <a:solidFill>
                      <a:srgbClr val="A1B7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0.861</a:t>
                      </a:r>
                    </a:p>
                  </a:txBody>
                  <a:tcPr anchor="ctr">
                    <a:solidFill>
                      <a:srgbClr val="2658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0.867</a:t>
                      </a:r>
                    </a:p>
                  </a:txBody>
                  <a:tcPr anchor="ctr">
                    <a:solidFill>
                      <a:srgbClr val="194E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3BA3"/>
                          </a:solidFill>
                          <a:latin typeface="Arial"/>
                        </a:rPr>
                        <a:t>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0.788</a:t>
                      </a:r>
                    </a:p>
                  </a:txBody>
                  <a:tcPr anchor="ctr">
                    <a:solidFill>
                      <a:srgbClr val="B7C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0.801</a:t>
                      </a:r>
                    </a:p>
                  </a:txBody>
                  <a:tcPr anchor="ctr">
                    <a:solidFill>
                      <a:srgbClr val="9EB5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0.815</a:t>
                      </a:r>
                    </a:p>
                  </a:txBody>
                  <a:tcPr anchor="ctr">
                    <a:solidFill>
                      <a:srgbClr val="81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3BA3"/>
                          </a:solidFill>
                          <a:latin typeface="Arial"/>
                        </a:rPr>
                        <a:t>picto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0.781</a:t>
                      </a:r>
                    </a:p>
                  </a:txBody>
                  <a:tcPr anchor="ctr">
                    <a:solidFill>
                      <a:srgbClr val="C6D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0.780</a:t>
                      </a:r>
                    </a:p>
                  </a:txBody>
                  <a:tcPr anchor="ctr">
                    <a:solidFill>
                      <a:srgbClr val="C8D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0.785</a:t>
                      </a:r>
                    </a:p>
                  </a:txBody>
                  <a:tcPr anchor="ctr">
                    <a:solidFill>
                      <a:srgbClr val="BDC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8C8C8C"/>
                          </a:solidFill>
                          <a:latin typeface="Arial"/>
                        </a:rPr>
                        <a:t>n-gram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8C8C8C"/>
                          </a:solidFill>
                          <a:latin typeface="Arial"/>
                        </a:rPr>
                        <a:t>0.782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8C8C8C"/>
                          </a:solidFill>
                          <a:latin typeface="Arial"/>
                        </a:rPr>
                        <a:t>0.782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8C8C8C"/>
                          </a:solidFill>
                          <a:latin typeface="Arial"/>
                        </a:rPr>
                        <a:t>0.782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8C8C8C"/>
                          </a:solidFill>
                          <a:latin typeface="Arial"/>
                        </a:rPr>
                        <a:t>frequency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8C8C8C"/>
                          </a:solidFill>
                          <a:latin typeface="Arial"/>
                        </a:rPr>
                        <a:t>0.774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8C8C8C"/>
                          </a:solidFill>
                          <a:latin typeface="Arial"/>
                        </a:rPr>
                        <a:t>0.774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8C8C8C"/>
                          </a:solidFill>
                          <a:latin typeface="Arial"/>
                        </a:rPr>
                        <a:t>0.774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8C8C8C"/>
                          </a:solidFill>
                          <a:latin typeface="Arial"/>
                        </a:rPr>
                        <a:t>random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8C8C8C"/>
                          </a:solidFill>
                          <a:latin typeface="Arial"/>
                        </a:rPr>
                        <a:t>0.365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8C8C8C"/>
                          </a:solidFill>
                          <a:latin typeface="Arial"/>
                        </a:rPr>
                        <a:t>0.365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8C8C8C"/>
                          </a:solidFill>
                          <a:latin typeface="Arial"/>
                        </a:rPr>
                        <a:t>0.365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" y="4114800"/>
            <a:ext cx="448056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dirty="0">
                <a:solidFill>
                  <a:srgbClr val="8C8C8C"/>
                </a:solidFill>
                <a:latin typeface="Arial"/>
              </a:rPr>
              <a:t>right pictogram among the first 3 of the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13258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3BA3"/>
                </a:solidFill>
                <a:latin typeface="Arial"/>
              </a:rPr>
              <a:t>+0.085 over the n-gram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1709928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id on Qwen3.5-2B (0.867) against counting (0.782)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23317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3BA3"/>
                </a:solidFill>
                <a:latin typeface="Arial"/>
              </a:rPr>
              <a:t>350M ≈ 2B for picto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2715768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in this setting the information is in the input, not in the model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333756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4A8CFF"/>
                </a:solidFill>
                <a:latin typeface="Arial"/>
              </a:rPr>
              <a:t>1,290 vs 569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3721608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steps where only id has the right one in its top 3, against only the n-gram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566928"/>
            <a:ext cx="7589520" cy="566928"/>
          </a:xfrm>
        </p:spPr>
        <p:txBody>
          <a:bodyPr/>
          <a:lstStyle/>
          <a:p>
            <a:r>
              <a:rPr sz="2600"/>
              <a:t>Accuracy grows with each pictogram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474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A8CFF"/>
                </a:solidFill>
                <a:latin typeface="Arial"/>
              </a:rPr>
              <a:t>ITERATIVE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85800" y="1234440"/>
          <a:ext cx="49377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" y="4434840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C8C8C"/>
                </a:solidFill>
                <a:latin typeface="Arial"/>
              </a:rPr>
              <a:t>Hit@3 by position in the sentence, Qwen3.5-2B, pool of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371600"/>
            <a:ext cx="260604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50" b="1" i="0">
                <a:solidFill>
                  <a:srgbClr val="003BA3"/>
                </a:solidFill>
                <a:latin typeface="Arial"/>
              </a:rPr>
              <a:t>Every system improves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with each pictogram chosen: the task is genuinely sequential</a:t>
            </a:r>
          </a:p>
          <a:p>
            <a:pPr algn="l">
              <a:spcAft>
                <a:spcPts val="1000"/>
              </a:spcAft>
            </a:pPr>
            <a:r>
              <a:rPr sz="1050" b="1" i="0">
                <a:solidFill>
                  <a:srgbClr val="003BA3"/>
                </a:solidFill>
                <a:latin typeface="Arial"/>
              </a:rPr>
              <a:t>picto = n-gram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almost everywhere: it has learned the sequence prior, not more</a:t>
            </a:r>
          </a:p>
          <a:p>
            <a:pPr algn="l">
              <a:spcAft>
                <a:spcPts val="1000"/>
              </a:spcAft>
            </a:pPr>
            <a:r>
              <a:rPr sz="1050" b="1" i="0">
                <a:solidFill>
                  <a:srgbClr val="003BA3"/>
                </a:solidFill>
                <a:latin typeface="Arial"/>
              </a:rPr>
              <a:t>id leads at every step,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thanks to the candidate list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566928"/>
            <a:ext cx="7589520" cy="566928"/>
          </a:xfrm>
        </p:spPr>
        <p:txBody>
          <a:bodyPr/>
          <a:lstStyle/>
          <a:p>
            <a:r>
              <a:rPr sz="2600" dirty="0"/>
              <a:t>A real keyboard: </a:t>
            </a:r>
            <a:r>
              <a:rPr lang="en-US" sz="2600" dirty="0"/>
              <a:t>ranking all the pictograms</a:t>
            </a:r>
            <a:endParaRPr sz="2600" dirty="0"/>
          </a:p>
        </p:txBody>
      </p:sp>
      <p:sp>
        <p:nvSpPr>
          <p:cNvPr id="3" name="TextBox 2"/>
          <p:cNvSpPr txBox="1"/>
          <p:nvPr/>
        </p:nvSpPr>
        <p:spPr>
          <a:xfrm>
            <a:off x="841248" y="3474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A8CFF"/>
                </a:solidFill>
                <a:latin typeface="Arial"/>
              </a:rPr>
              <a:t>NO POOL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85800" y="1188720"/>
          <a:ext cx="48463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" y="4434840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C8C8C"/>
                </a:solidFill>
                <a:latin typeface="Arial"/>
              </a:rPr>
              <a:t>right pictogram among the top k of all 5,014; random = k / 5,014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132588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3BA3"/>
                </a:solidFill>
                <a:latin typeface="Arial"/>
              </a:rPr>
              <a:t>13% and 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70992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picto finds the right pictogram in its top 5 and top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23317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3BA3"/>
                </a:solidFill>
                <a:latin typeface="Arial"/>
              </a:rPr>
              <a:t>~130× random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271576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and above the n-gram from the 5th suggestion on; not on the first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33375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4A8CFF"/>
                </a:solidFill>
                <a:latin typeface="Arial"/>
              </a:rPr>
              <a:t>Same on every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372160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all@5 0.133 / 0.131 / 0.132 for 350M, 0.8B and 2B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566928"/>
            <a:ext cx="7589520" cy="566928"/>
          </a:xfrm>
        </p:spPr>
        <p:txBody>
          <a:bodyPr/>
          <a:lstStyle/>
          <a:p>
            <a:r>
              <a:rPr sz="2600"/>
              <a:t>A prefix trie pays only for what it covers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474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A8CFF"/>
                </a:solidFill>
                <a:latin typeface="Arial"/>
              </a:rPr>
              <a:t>CONSTRAINTS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85800" y="1234440"/>
          <a:ext cx="49377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" y="443484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C8C8C"/>
                </a:solidFill>
                <a:latin typeface="Arial"/>
              </a:rPr>
              <a:t>Hit@1 (first choice) vs share of test sentences added to the trie; Qwen3.5-2B picto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371600"/>
            <a:ext cx="260604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50" b="1" i="0">
                <a:solidFill>
                  <a:srgbClr val="003BA3"/>
                </a:solidFill>
                <a:latin typeface="Arial"/>
              </a:rPr>
              <a:t>Training data alone: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0.392 → 0.407, a small gain</a:t>
            </a:r>
          </a:p>
          <a:p>
            <a:pPr algn="l">
              <a:spcAft>
                <a:spcPts val="1000"/>
              </a:spcAft>
            </a:pPr>
            <a:r>
              <a:rPr sz="1050" b="1" i="0">
                <a:solidFill>
                  <a:srgbClr val="003BA3"/>
                </a:solidFill>
                <a:latin typeface="Arial"/>
              </a:rPr>
              <a:t>Covered sentences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jump to 0.71; the others stay at 0.41: the gain is linear in coverage</a:t>
            </a:r>
          </a:p>
          <a:p>
            <a:pPr algn="l">
              <a:spcAft>
                <a:spcPts val="1000"/>
              </a:spcAft>
            </a:pPr>
            <a:r>
              <a:rPr sz="1050" b="1" i="0">
                <a:solidFill>
                  <a:srgbClr val="003BA3"/>
                </a:solidFill>
                <a:latin typeface="Arial"/>
              </a:rPr>
              <a:t>Deployment: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a trie of each user's own phrases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566928"/>
            <a:ext cx="7589520" cy="566928"/>
          </a:xfrm>
        </p:spPr>
        <p:txBody>
          <a:bodyPr/>
          <a:lstStyle/>
          <a:p>
            <a:r>
              <a:rPr sz="2600"/>
              <a:t>The picture fills the metadata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474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A8CFF"/>
                </a:solidFill>
                <a:latin typeface="Arial"/>
              </a:rPr>
              <a:t>VISION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97480" y="1325880"/>
            <a:ext cx="0" cy="274320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468880" y="411480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8C8C8C"/>
                </a:solidFill>
                <a:latin typeface="Arial"/>
              </a:rPr>
              <a:t>0.55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39439" y="1325880"/>
            <a:ext cx="0" cy="274320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910839" y="411480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8C8C8C"/>
                </a:solidFill>
                <a:latin typeface="Arial"/>
              </a:rPr>
              <a:t>0.60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81400" y="1325880"/>
            <a:ext cx="0" cy="274320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352800" y="411480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8C8C8C"/>
                </a:solidFill>
                <a:latin typeface="Arial"/>
              </a:rPr>
              <a:t>0.65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23359" y="1325880"/>
            <a:ext cx="0" cy="274320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794759" y="411480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8C8C8C"/>
                </a:solidFill>
                <a:latin typeface="Arial"/>
              </a:rPr>
              <a:t>0.70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65320" y="1325880"/>
            <a:ext cx="0" cy="274320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36720" y="411480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8C8C8C"/>
                </a:solidFill>
                <a:latin typeface="Arial"/>
              </a:rPr>
              <a:t>0.75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07280" y="1325880"/>
            <a:ext cx="0" cy="274320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678680" y="411480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8C8C8C"/>
                </a:solidFill>
                <a:latin typeface="Arial"/>
              </a:rPr>
              <a:t>0.80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49240" y="1325880"/>
            <a:ext cx="0" cy="274320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20640" y="411480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8C8C8C"/>
                </a:solidFill>
                <a:latin typeface="Arial"/>
              </a:rPr>
              <a:t>0.85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1481328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Qwen3.5-2B
has description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58873" y="1600200"/>
            <a:ext cx="14135" cy="0"/>
          </a:xfrm>
          <a:prstGeom prst="line">
            <a:avLst/>
          </a:prstGeom>
          <a:ln w="63500">
            <a:solidFill>
              <a:srgbClr val="A9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881149" y="1522476"/>
            <a:ext cx="155448" cy="155448"/>
          </a:xfrm>
          <a:prstGeom prst="ellipse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895284" y="1522476"/>
            <a:ext cx="155448" cy="155448"/>
          </a:xfrm>
          <a:prstGeom prst="ellipse">
            <a:avLst/>
          </a:prstGeom>
          <a:solidFill>
            <a:srgbClr val="003B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82736" y="1499616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Arial"/>
              </a:rPr>
              <a:t>+0.002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213969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03BA3"/>
                </a:solidFill>
                <a:latin typeface="Arial"/>
              </a:rPr>
              <a:t>Qwen3.5-2B
no description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352388" y="2258568"/>
            <a:ext cx="972955" cy="0"/>
          </a:xfrm>
          <a:prstGeom prst="line">
            <a:avLst/>
          </a:prstGeom>
          <a:ln w="63500">
            <a:solidFill>
              <a:srgbClr val="A9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274664" y="2180844"/>
            <a:ext cx="155448" cy="155448"/>
          </a:xfrm>
          <a:prstGeom prst="ellipse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247619" y="2180844"/>
            <a:ext cx="155448" cy="155448"/>
          </a:xfrm>
          <a:prstGeom prst="ellipse">
            <a:avLst/>
          </a:prstGeom>
          <a:solidFill>
            <a:srgbClr val="003B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5071" y="2157984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3BA3"/>
                </a:solidFill>
                <a:latin typeface="Arial"/>
              </a:rPr>
              <a:t>+0.110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2798064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Qwen3.5-0.8B
has description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938848" y="2916936"/>
            <a:ext cx="16491" cy="0"/>
          </a:xfrm>
          <a:prstGeom prst="line">
            <a:avLst/>
          </a:prstGeom>
          <a:ln w="63500">
            <a:solidFill>
              <a:srgbClr val="A9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61124" y="2839212"/>
            <a:ext cx="155448" cy="155448"/>
          </a:xfrm>
          <a:prstGeom prst="ellipse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877615" y="2839212"/>
            <a:ext cx="155448" cy="155448"/>
          </a:xfrm>
          <a:prstGeom prst="ellipse">
            <a:avLst/>
          </a:prstGeom>
          <a:solidFill>
            <a:srgbClr val="003B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65067" y="2816352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Arial"/>
              </a:rPr>
              <a:t>+0.002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345643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03BA3"/>
                </a:solidFill>
                <a:latin typeface="Arial"/>
              </a:rPr>
              <a:t>Qwen3.5-0.8B
no description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077024" y="3575304"/>
            <a:ext cx="1257497" cy="0"/>
          </a:xfrm>
          <a:prstGeom prst="line">
            <a:avLst/>
          </a:prstGeom>
          <a:ln w="63500">
            <a:solidFill>
              <a:srgbClr val="A9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2999300" y="3497580"/>
            <a:ext cx="155448" cy="155448"/>
          </a:xfrm>
          <a:prstGeom prst="ellipse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256797" y="3497580"/>
            <a:ext cx="155448" cy="155448"/>
          </a:xfrm>
          <a:prstGeom prst="ellipse">
            <a:avLst/>
          </a:prstGeom>
          <a:solidFill>
            <a:srgbClr val="003B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44249" y="347472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3BA3"/>
                </a:solidFill>
                <a:latin typeface="Arial"/>
              </a:rPr>
              <a:t>+0.142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435254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C8C8C"/>
                </a:solidFill>
                <a:latin typeface="Arial"/>
              </a:rPr>
              <a:t>Hit@3, pool of 8</a:t>
            </a:r>
          </a:p>
        </p:txBody>
      </p:sp>
      <p:sp>
        <p:nvSpPr>
          <p:cNvPr id="39" name="Oval 38"/>
          <p:cNvSpPr/>
          <p:nvPr/>
        </p:nvSpPr>
        <p:spPr>
          <a:xfrm>
            <a:off x="2775204" y="4375403"/>
            <a:ext cx="118872" cy="118872"/>
          </a:xfrm>
          <a:prstGeom prst="ellipse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944368" y="4352544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C8C8C"/>
                </a:solidFill>
                <a:latin typeface="Arial"/>
              </a:rPr>
              <a:t>text init</a:t>
            </a:r>
          </a:p>
        </p:txBody>
      </p:sp>
      <p:sp>
        <p:nvSpPr>
          <p:cNvPr id="41" name="Oval 40"/>
          <p:cNvSpPr/>
          <p:nvPr/>
        </p:nvSpPr>
        <p:spPr>
          <a:xfrm>
            <a:off x="3826763" y="4375403"/>
            <a:ext cx="118872" cy="118872"/>
          </a:xfrm>
          <a:prstGeom prst="ellipse">
            <a:avLst/>
          </a:prstGeom>
          <a:solidFill>
            <a:srgbClr val="003B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995928" y="4352544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003BA3"/>
                </a:solidFill>
                <a:latin typeface="Arial"/>
              </a:rPr>
              <a:t>image init</a:t>
            </a:r>
          </a:p>
        </p:txBody>
      </p:sp>
      <p:grpSp>
        <p:nvGrpSpPr>
          <p:cNvPr id="5033" name="Google Shape;8936;p75"/>
          <p:cNvGrpSpPr/>
          <p:nvPr/>
        </p:nvGrpSpPr>
        <p:grpSpPr>
          <a:xfrm>
            <a:off x="5897880" y="1325880"/>
            <a:ext cx="457199" cy="240195"/>
            <a:chOff x="2080675" y="352325"/>
            <a:chExt cx="485000" cy="254800"/>
          </a:xfrm>
        </p:grpSpPr>
        <p:sp>
          <p:nvSpPr>
            <p:cNvPr id="5034" name="Google Shape;8937;p75"/>
            <p:cNvSpPr/>
            <p:nvPr/>
          </p:nvSpPr>
          <p:spPr>
            <a:xfrm>
              <a:off x="2080675" y="352325"/>
              <a:ext cx="485000" cy="254800"/>
            </a:xfrm>
            <a:custGeom>
              <a:avLst/>
              <a:gdLst/>
              <a:ahLst/>
              <a:cxnLst/>
              <a:rect l="l" t="t" r="r" b="b"/>
              <a:pathLst>
                <a:path w="19400" h="10192" extrusionOk="0">
                  <a:moveTo>
                    <a:pt x="5514" y="2183"/>
                  </a:moveTo>
                  <a:cubicBezTo>
                    <a:pt x="4291" y="3932"/>
                    <a:pt x="4291" y="6254"/>
                    <a:pt x="5514" y="8002"/>
                  </a:cubicBezTo>
                  <a:cubicBezTo>
                    <a:pt x="4858" y="7685"/>
                    <a:pt x="4230" y="7320"/>
                    <a:pt x="3632" y="6909"/>
                  </a:cubicBezTo>
                  <a:cubicBezTo>
                    <a:pt x="2841" y="6368"/>
                    <a:pt x="2099" y="5762"/>
                    <a:pt x="1410" y="5097"/>
                  </a:cubicBezTo>
                  <a:cubicBezTo>
                    <a:pt x="2071" y="4454"/>
                    <a:pt x="3572" y="3126"/>
                    <a:pt x="5514" y="2183"/>
                  </a:cubicBezTo>
                  <a:close/>
                  <a:moveTo>
                    <a:pt x="13865" y="2171"/>
                  </a:moveTo>
                  <a:cubicBezTo>
                    <a:pt x="14527" y="2491"/>
                    <a:pt x="15167" y="2866"/>
                    <a:pt x="15774" y="3283"/>
                  </a:cubicBezTo>
                  <a:cubicBezTo>
                    <a:pt x="16562" y="3823"/>
                    <a:pt x="17304" y="4430"/>
                    <a:pt x="17996" y="5094"/>
                  </a:cubicBezTo>
                  <a:cubicBezTo>
                    <a:pt x="17307" y="5759"/>
                    <a:pt x="16565" y="6365"/>
                    <a:pt x="15774" y="6909"/>
                  </a:cubicBezTo>
                  <a:cubicBezTo>
                    <a:pt x="15167" y="7326"/>
                    <a:pt x="14530" y="7697"/>
                    <a:pt x="13865" y="8017"/>
                  </a:cubicBezTo>
                  <a:cubicBezTo>
                    <a:pt x="15097" y="6263"/>
                    <a:pt x="15097" y="3926"/>
                    <a:pt x="13865" y="2171"/>
                  </a:cubicBezTo>
                  <a:close/>
                  <a:moveTo>
                    <a:pt x="9801" y="1133"/>
                  </a:moveTo>
                  <a:cubicBezTo>
                    <a:pt x="11948" y="1190"/>
                    <a:pt x="13657" y="2947"/>
                    <a:pt x="13657" y="5091"/>
                  </a:cubicBezTo>
                  <a:cubicBezTo>
                    <a:pt x="13657" y="7238"/>
                    <a:pt x="11948" y="8995"/>
                    <a:pt x="9801" y="9053"/>
                  </a:cubicBezTo>
                  <a:lnTo>
                    <a:pt x="9566" y="9053"/>
                  </a:lnTo>
                  <a:cubicBezTo>
                    <a:pt x="7431" y="8983"/>
                    <a:pt x="5734" y="7232"/>
                    <a:pt x="5728" y="5094"/>
                  </a:cubicBezTo>
                  <a:cubicBezTo>
                    <a:pt x="5731" y="2947"/>
                    <a:pt x="7440" y="1190"/>
                    <a:pt x="9587" y="1133"/>
                  </a:cubicBezTo>
                  <a:close/>
                  <a:moveTo>
                    <a:pt x="9557" y="0"/>
                  </a:moveTo>
                  <a:cubicBezTo>
                    <a:pt x="7440" y="37"/>
                    <a:pt x="5166" y="852"/>
                    <a:pt x="2965" y="2362"/>
                  </a:cubicBezTo>
                  <a:cubicBezTo>
                    <a:pt x="1283" y="3518"/>
                    <a:pt x="239" y="4665"/>
                    <a:pt x="196" y="4714"/>
                  </a:cubicBezTo>
                  <a:cubicBezTo>
                    <a:pt x="0" y="4928"/>
                    <a:pt x="0" y="5257"/>
                    <a:pt x="196" y="5472"/>
                  </a:cubicBezTo>
                  <a:cubicBezTo>
                    <a:pt x="239" y="5523"/>
                    <a:pt x="1283" y="6670"/>
                    <a:pt x="2965" y="7827"/>
                  </a:cubicBezTo>
                  <a:cubicBezTo>
                    <a:pt x="5166" y="9337"/>
                    <a:pt x="7440" y="10149"/>
                    <a:pt x="9557" y="10188"/>
                  </a:cubicBezTo>
                  <a:cubicBezTo>
                    <a:pt x="9602" y="10188"/>
                    <a:pt x="9647" y="10191"/>
                    <a:pt x="9692" y="10191"/>
                  </a:cubicBezTo>
                  <a:lnTo>
                    <a:pt x="9717" y="10191"/>
                  </a:lnTo>
                  <a:cubicBezTo>
                    <a:pt x="11869" y="10185"/>
                    <a:pt x="14194" y="9367"/>
                    <a:pt x="16435" y="7827"/>
                  </a:cubicBezTo>
                  <a:cubicBezTo>
                    <a:pt x="18120" y="6670"/>
                    <a:pt x="19161" y="5523"/>
                    <a:pt x="19207" y="5475"/>
                  </a:cubicBezTo>
                  <a:cubicBezTo>
                    <a:pt x="19400" y="5257"/>
                    <a:pt x="19400" y="4931"/>
                    <a:pt x="19207" y="4714"/>
                  </a:cubicBezTo>
                  <a:cubicBezTo>
                    <a:pt x="19161" y="4665"/>
                    <a:pt x="18120" y="3521"/>
                    <a:pt x="16435" y="2365"/>
                  </a:cubicBezTo>
                  <a:cubicBezTo>
                    <a:pt x="14191" y="822"/>
                    <a:pt x="11869" y="6"/>
                    <a:pt x="9717" y="0"/>
                  </a:cubicBezTo>
                  <a:close/>
                </a:path>
              </a:pathLst>
            </a:custGeom>
            <a:solidFill>
              <a:srgbClr val="003B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3BA3"/>
                </a:solidFill>
              </a:endParaRPr>
            </a:p>
          </p:txBody>
        </p:sp>
        <p:sp>
          <p:nvSpPr>
            <p:cNvPr id="5035" name="Google Shape;8938;p75"/>
            <p:cNvSpPr/>
            <p:nvPr/>
          </p:nvSpPr>
          <p:spPr>
            <a:xfrm>
              <a:off x="2246650" y="408900"/>
              <a:ext cx="147075" cy="141600"/>
            </a:xfrm>
            <a:custGeom>
              <a:avLst/>
              <a:gdLst/>
              <a:ahLst/>
              <a:cxnLst/>
              <a:rect l="l" t="t" r="r" b="b"/>
              <a:pathLst>
                <a:path w="5883" h="5664" extrusionOk="0">
                  <a:moveTo>
                    <a:pt x="3054" y="1132"/>
                  </a:moveTo>
                  <a:cubicBezTo>
                    <a:pt x="3495" y="1132"/>
                    <a:pt x="3930" y="1304"/>
                    <a:pt x="4255" y="1630"/>
                  </a:cubicBezTo>
                  <a:cubicBezTo>
                    <a:pt x="4738" y="2116"/>
                    <a:pt x="4886" y="2846"/>
                    <a:pt x="4624" y="3480"/>
                  </a:cubicBezTo>
                  <a:cubicBezTo>
                    <a:pt x="4358" y="4115"/>
                    <a:pt x="3739" y="4531"/>
                    <a:pt x="3053" y="4531"/>
                  </a:cubicBezTo>
                  <a:cubicBezTo>
                    <a:pt x="2114" y="4528"/>
                    <a:pt x="1357" y="3770"/>
                    <a:pt x="1353" y="2831"/>
                  </a:cubicBezTo>
                  <a:cubicBezTo>
                    <a:pt x="1353" y="2143"/>
                    <a:pt x="1767" y="1524"/>
                    <a:pt x="2404" y="1261"/>
                  </a:cubicBezTo>
                  <a:cubicBezTo>
                    <a:pt x="2614" y="1174"/>
                    <a:pt x="2835" y="1132"/>
                    <a:pt x="3054" y="1132"/>
                  </a:cubicBezTo>
                  <a:close/>
                  <a:moveTo>
                    <a:pt x="3053" y="1"/>
                  </a:moveTo>
                  <a:cubicBezTo>
                    <a:pt x="2316" y="1"/>
                    <a:pt x="1593" y="288"/>
                    <a:pt x="1052" y="829"/>
                  </a:cubicBezTo>
                  <a:cubicBezTo>
                    <a:pt x="242" y="1639"/>
                    <a:pt x="1" y="2855"/>
                    <a:pt x="439" y="3915"/>
                  </a:cubicBezTo>
                  <a:cubicBezTo>
                    <a:pt x="876" y="4972"/>
                    <a:pt x="1909" y="5663"/>
                    <a:pt x="3053" y="5663"/>
                  </a:cubicBezTo>
                  <a:cubicBezTo>
                    <a:pt x="4614" y="5660"/>
                    <a:pt x="5883" y="4395"/>
                    <a:pt x="5883" y="2831"/>
                  </a:cubicBezTo>
                  <a:cubicBezTo>
                    <a:pt x="5883" y="1687"/>
                    <a:pt x="5194" y="654"/>
                    <a:pt x="4137" y="216"/>
                  </a:cubicBezTo>
                  <a:cubicBezTo>
                    <a:pt x="3786" y="71"/>
                    <a:pt x="3418" y="1"/>
                    <a:pt x="3053" y="1"/>
                  </a:cubicBezTo>
                  <a:close/>
                </a:path>
              </a:pathLst>
            </a:custGeom>
            <a:solidFill>
              <a:srgbClr val="003B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3BA3"/>
                </a:solidFill>
              </a:endParaRPr>
            </a:p>
          </p:txBody>
        </p:sp>
      </p:grpSp>
      <p:sp>
        <p:nvSpPr>
          <p:cNvPr id="5036" name="TextBox 5035"/>
          <p:cNvSpPr txBox="1"/>
          <p:nvPr/>
        </p:nvSpPr>
        <p:spPr>
          <a:xfrm>
            <a:off x="5897880" y="1874519"/>
            <a:ext cx="256032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50" b="1" i="0">
                <a:solidFill>
                  <a:srgbClr val="003BA3"/>
                </a:solidFill>
                <a:latin typeface="Arial"/>
              </a:rPr>
              <a:t>The vision encoder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of Qwen3.5 initialises each token from the PNG</a:t>
            </a:r>
          </a:p>
          <a:p>
            <a:pPr algn="l">
              <a:spcAft>
                <a:spcPts val="1000"/>
              </a:spcAft>
            </a:pPr>
            <a:r>
              <a:rPr sz="1050" b="1" i="0">
                <a:solidFill>
                  <a:srgbClr val="003BA3"/>
                </a:solidFill>
                <a:latin typeface="Arial"/>
              </a:rPr>
              <a:t>+0.11 to +0.14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exactly where there is no description, on both models</a:t>
            </a:r>
          </a:p>
          <a:p>
            <a:pPr algn="l">
              <a:spcAft>
                <a:spcPts val="1000"/>
              </a:spcAft>
            </a:pPr>
            <a:r>
              <a:rPr sz="1050" b="1" i="0">
                <a:solidFill>
                  <a:srgbClr val="003BA3"/>
                </a:solidFill>
                <a:latin typeface="Arial"/>
              </a:rPr>
              <a:t>Not noise: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114 fixed / 8 broken on the 2B; another seed moves it by 0.036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566928"/>
            <a:ext cx="7589520" cy="566928"/>
          </a:xfrm>
        </p:spPr>
        <p:txBody>
          <a:bodyPr/>
          <a:lstStyle/>
          <a:p>
            <a:r>
              <a:rPr sz="2600"/>
              <a:t>If the model knew the whole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474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A8CFF"/>
                </a:solidFill>
                <a:latin typeface="Arial"/>
              </a:rPr>
              <a:t>UPPER BOUND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85800" y="1234440"/>
          <a:ext cx="41148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" y="443484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C8C8C"/>
                </a:solidFill>
                <a:latin typeface="Arial"/>
              </a:rPr>
              <a:t>Hit@3, Qwen3.5-2B, pool of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7800" y="132588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Same models and training, but the prompt also contains the target sentence: the model knows the message in advance.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22860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3BA3"/>
                </a:solidFill>
                <a:latin typeface="Arial"/>
              </a:rPr>
              <a:t>+0.10 to +0.13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2670048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Hit@3 for every mode: the order id &gt; text &gt; picto does not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32918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4A8CFF"/>
                </a:solidFill>
                <a:latin typeface="Arial"/>
              </a:rPr>
              <a:t>13% → 69%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3675888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picto all@5: knowing the message would make the keyboard usable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6" name="Google Shape;197;p32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Takeaways</a:t>
            </a:r>
            <a:endParaRPr/>
          </a:p>
        </p:txBody>
      </p:sp>
      <p:sp>
        <p:nvSpPr>
          <p:cNvPr id="5037" name="Google Shape;198;p32"/>
          <p:cNvSpPr txBox="1">
            <a:spLocks noGrp="1"/>
          </p:cNvSpPr>
          <p:nvPr>
            <p:ph type="ctrTitle" idx="2"/>
          </p:nvPr>
        </p:nvSpPr>
        <p:spPr>
          <a:xfrm>
            <a:off x="2310350" y="1446813"/>
            <a:ext cx="21504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id wins with a pool</a:t>
            </a:r>
            <a:endParaRPr/>
          </a:p>
        </p:txBody>
      </p:sp>
      <p:sp>
        <p:nvSpPr>
          <p:cNvPr id="5038" name="Google Shape;199;p32"/>
          <p:cNvSpPr txBox="1">
            <a:spLocks noGrp="1"/>
          </p:cNvSpPr>
          <p:nvPr>
            <p:ph type="title" idx="3"/>
          </p:nvPr>
        </p:nvSpPr>
        <p:spPr>
          <a:xfrm>
            <a:off x="717800" y="1521025"/>
            <a:ext cx="14934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039" name="Google Shape;200;p32"/>
          <p:cNvSpPr txBox="1">
            <a:spLocks noGrp="1"/>
          </p:cNvSpPr>
          <p:nvPr>
            <p:ph type="subTitle" idx="1"/>
          </p:nvPr>
        </p:nvSpPr>
        <p:spPr>
          <a:xfrm>
            <a:off x="2310350" y="1858875"/>
            <a:ext cx="2150400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/>
              <a:t>0.867 Hit@3 on Qwen3.5-2B, +0.085 over the n-gram</a:t>
            </a:r>
            <a:endParaRPr/>
          </a:p>
        </p:txBody>
      </p:sp>
      <p:sp>
        <p:nvSpPr>
          <p:cNvPr id="5040" name="Google Shape;201;p32"/>
          <p:cNvSpPr txBox="1">
            <a:spLocks noGrp="1"/>
          </p:cNvSpPr>
          <p:nvPr>
            <p:ph type="ctrTitle" idx="4"/>
          </p:nvPr>
        </p:nvSpPr>
        <p:spPr>
          <a:xfrm>
            <a:off x="6275800" y="1446813"/>
            <a:ext cx="21504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picto needs no pool</a:t>
            </a:r>
            <a:endParaRPr/>
          </a:p>
        </p:txBody>
      </p:sp>
      <p:sp>
        <p:nvSpPr>
          <p:cNvPr id="5041" name="Google Shape;202;p32"/>
          <p:cNvSpPr txBox="1">
            <a:spLocks noGrp="1"/>
          </p:cNvSpPr>
          <p:nvPr>
            <p:ph type="title" idx="5"/>
          </p:nvPr>
        </p:nvSpPr>
        <p:spPr>
          <a:xfrm>
            <a:off x="4686400" y="1521025"/>
            <a:ext cx="14934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042" name="Google Shape;203;p32"/>
          <p:cNvSpPr txBox="1">
            <a:spLocks noGrp="1"/>
          </p:cNvSpPr>
          <p:nvPr>
            <p:ph type="subTitle" idx="6"/>
          </p:nvPr>
        </p:nvSpPr>
        <p:spPr>
          <a:xfrm>
            <a:off x="6275800" y="1858878"/>
            <a:ext cx="2150400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/>
              <a:t>ranks all 5,014 in one pass: 13% in the top 5</a:t>
            </a:r>
            <a:endParaRPr/>
          </a:p>
        </p:txBody>
      </p:sp>
      <p:sp>
        <p:nvSpPr>
          <p:cNvPr id="5043" name="Google Shape;204;p32"/>
          <p:cNvSpPr txBox="1">
            <a:spLocks noGrp="1"/>
          </p:cNvSpPr>
          <p:nvPr>
            <p:ph type="ctrTitle" idx="7"/>
          </p:nvPr>
        </p:nvSpPr>
        <p:spPr>
          <a:xfrm>
            <a:off x="2310350" y="2868777"/>
            <a:ext cx="21504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Vision fills the gap</a:t>
            </a:r>
            <a:endParaRPr/>
          </a:p>
        </p:txBody>
      </p:sp>
      <p:sp>
        <p:nvSpPr>
          <p:cNvPr id="5044" name="Google Shape;205;p32"/>
          <p:cNvSpPr txBox="1">
            <a:spLocks noGrp="1"/>
          </p:cNvSpPr>
          <p:nvPr>
            <p:ph type="title" idx="8"/>
          </p:nvPr>
        </p:nvSpPr>
        <p:spPr>
          <a:xfrm>
            <a:off x="717800" y="2960450"/>
            <a:ext cx="14934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045" name="Google Shape;206;p32"/>
          <p:cNvSpPr txBox="1">
            <a:spLocks noGrp="1"/>
          </p:cNvSpPr>
          <p:nvPr>
            <p:ph type="subTitle" idx="9"/>
          </p:nvPr>
        </p:nvSpPr>
        <p:spPr>
          <a:xfrm>
            <a:off x="2310350" y="3298325"/>
            <a:ext cx="2150400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/>
              <a:t>+0.11 to +0.14 exactly where the metadata is missing</a:t>
            </a:r>
            <a:endParaRPr/>
          </a:p>
        </p:txBody>
      </p:sp>
      <p:sp>
        <p:nvSpPr>
          <p:cNvPr id="5046" name="Google Shape;207;p32"/>
          <p:cNvSpPr txBox="1">
            <a:spLocks noGrp="1"/>
          </p:cNvSpPr>
          <p:nvPr>
            <p:ph type="ctrTitle" idx="13"/>
          </p:nvPr>
        </p:nvSpPr>
        <p:spPr>
          <a:xfrm>
            <a:off x="6275650" y="2868775"/>
            <a:ext cx="21504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Size barely matters</a:t>
            </a:r>
            <a:endParaRPr/>
          </a:p>
        </p:txBody>
      </p:sp>
      <p:sp>
        <p:nvSpPr>
          <p:cNvPr id="5047" name="Google Shape;208;p32"/>
          <p:cNvSpPr txBox="1">
            <a:spLocks noGrp="1"/>
          </p:cNvSpPr>
          <p:nvPr>
            <p:ph type="title" idx="14"/>
          </p:nvPr>
        </p:nvSpPr>
        <p:spPr>
          <a:xfrm>
            <a:off x="4686400" y="2960450"/>
            <a:ext cx="14934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048" name="Google Shape;209;p32"/>
          <p:cNvSpPr txBox="1">
            <a:spLocks noGrp="1"/>
          </p:cNvSpPr>
          <p:nvPr>
            <p:ph type="subTitle" idx="15"/>
          </p:nvPr>
        </p:nvSpPr>
        <p:spPr>
          <a:xfrm>
            <a:off x="6275800" y="3298325"/>
            <a:ext cx="2150400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/>
              <a:t>picto: the same Hit@3 on 350M, 0.8B and 2B</a:t>
            </a:r>
            <a:endParaRPr/>
          </a:p>
        </p:txBody>
      </p:sp>
      <p:sp>
        <p:nvSpPr>
          <p:cNvPr id="5049" name="TextBox 5048"/>
          <p:cNvSpPr txBox="1"/>
          <p:nvPr/>
        </p:nvSpPr>
        <p:spPr>
          <a:xfrm>
            <a:off x="713232" y="4041648"/>
            <a:ext cx="77266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003BA3"/>
                </a:solidFill>
                <a:latin typeface="Arial"/>
              </a:rPr>
              <a:t>On a tablet: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picto on a small model, image init, a per-user trie, and any context of the message</a:t>
            </a:r>
          </a:p>
        </p:txBody>
      </p:sp>
      <p:sp>
        <p:nvSpPr>
          <p:cNvPr id="5050" name="TextBox 5049"/>
          <p:cNvSpPr txBox="1"/>
          <p:nvPr/>
        </p:nvSpPr>
        <p:spPr>
          <a:xfrm>
            <a:off x="713232" y="4389120"/>
            <a:ext cx="7726679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dirty="0">
                <a:solidFill>
                  <a:srgbClr val="8C8C8C"/>
                </a:solidFill>
                <a:latin typeface="Arial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agement Consulting Toolkit by Slidesgo">
  <a:themeElements>
    <a:clrScheme name="Simple Light">
      <a:dk1>
        <a:srgbClr val="000000"/>
      </a:dk1>
      <a:lt1>
        <a:srgbClr val="FFFFFF"/>
      </a:lt1>
      <a:dk2>
        <a:srgbClr val="4A8CFF"/>
      </a:dk2>
      <a:lt2>
        <a:srgbClr val="EFEFEF"/>
      </a:lt2>
      <a:accent1>
        <a:srgbClr val="003BA3"/>
      </a:accent1>
      <a:accent2>
        <a:srgbClr val="000000"/>
      </a:accent2>
      <a:accent3>
        <a:srgbClr val="4A8CFF"/>
      </a:accent3>
      <a:accent4>
        <a:srgbClr val="EFEFEF"/>
      </a:accent4>
      <a:accent5>
        <a:srgbClr val="003BA3"/>
      </a:accent5>
      <a:accent6>
        <a:srgbClr val="000000"/>
      </a:accent6>
      <a:hlink>
        <a:srgbClr val="003BA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1195</Words>
  <Application>Microsoft Office PowerPoint</Application>
  <PresentationFormat>Presentazione su schermo (16:9)</PresentationFormat>
  <Paragraphs>198</Paragraphs>
  <Slides>13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13</vt:i4>
      </vt:variant>
    </vt:vector>
  </HeadingPairs>
  <TitlesOfParts>
    <vt:vector size="17" baseType="lpstr">
      <vt:lpstr>Arial</vt:lpstr>
      <vt:lpstr>Courier New</vt:lpstr>
      <vt:lpstr>Management Consulting Toolkit by Slidesgo</vt:lpstr>
      <vt:lpstr>Slidesgo Final Pages</vt:lpstr>
      <vt:lpstr>Training an LLM for the Iterative Selection of Pictograms</vt:lpstr>
      <vt:lpstr>What should the model output?</vt:lpstr>
      <vt:lpstr>The input</vt:lpstr>
      <vt:lpstr>What the model sees, and how it is scored</vt:lpstr>
      <vt:lpstr>One recipe, two kinds of ranking</vt:lpstr>
      <vt:lpstr>Baselines see what picto sees</vt:lpstr>
      <vt:lpstr>id wins; picto only matches the n-gram</vt:lpstr>
      <vt:lpstr>Accuracy grows with each pictogram</vt:lpstr>
      <vt:lpstr>A real keyboard: ranking all the pictograms</vt:lpstr>
      <vt:lpstr>A prefix trie pays only for what it covers</vt:lpstr>
      <vt:lpstr>The picture fills the metadata gap</vt:lpstr>
      <vt:lpstr>If the model knew the whole sentence</vt:lpstr>
      <vt:lpstr>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Davide Ligabue - davide.ligabue@studio.unibo.it</cp:lastModifiedBy>
  <cp:revision>13</cp:revision>
  <dcterms:modified xsi:type="dcterms:W3CDTF">2026-10-05T09:02:14Z</dcterms:modified>
</cp:coreProperties>
</file>